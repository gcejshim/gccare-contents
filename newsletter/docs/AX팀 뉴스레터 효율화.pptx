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16"/>
    <p:restoredTop sz="94610"/>
  </p:normalViewPr>
  <p:slideViewPr>
    <p:cSldViewPr snapToGrid="0" snapToObjects="1">
      <p:cViewPr varScale="1">
        <p:scale>
          <a:sx n="143" d="100"/>
          <a:sy n="143" d="100"/>
        </p:scale>
        <p:origin x="12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89656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운영자분들이 뉴스레터 작업하실 때 덜 기다리고, 덜 번거롭게 할 수 있는 툴을 소개하려고 해요. 15호를 같이 만들어 보면서 마무리하겠습니다.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이해한 내용이 맞는지 확인하고 넘어갈게요. 뉴스레터는 GC케어에 관심 있는 분들, 그리고 고객사 담당자분들과 임직원분들이 보시죠. 보건관리자나 인사 담당자분들은 바로 실무에 활용하시고, 관심 있는 기업은 상담이나 도입 문의로 이어지게 하는 거죠. 같은 콘텐츠가 홈페이지와 메일로 나가는데, 이걸 매달 만들어야 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지금은 기획안 넘기고, 시안 받고, 고치고, 다시 받고. 운영자분들 입장에선 숫자 하나 틀려도 디자이너 일정 맞춰 기다려야 했죠. 그 기다림을 줄이려고 만든 툴입니다. 디자인은 디자인 시스템이 자동으로 맞춰 줘요.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툴을 만들 때 가장 신경 쓴 건 쉽게 쓸 수 있는가였어요. 그래서 누구나 쉽게 쓸 수 있게 설계된 디자인 툴 캔바와 뉴스레터 툴 스티비를 참고했어요. 각각 어떤 점을 가져왔는지 볼게요.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캔바는 다들 아시죠. 빈 화면이 아니라 템플릿에서 시작하고, 브랜드 키트로 색이랑 글꼴이 정해져 있어서 누가 만들어도 톤이 같아요. 다만 빈 캔버스에 자유롭게 배치하는 방식이라 사람마다 결과가 달라질 수 있어요. 그래서 템플릿과 브랜드 키트처럼 디자인 시스템이 자동으로 적용되는 부분만 가져왔습니다.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스티비는 뉴스레터를 만들고, 보내고, 성과까지 보는 국내 서비스예요. 우리가 참고한 건 만드는 방식, 에디터예요.캔바처럼 자유롭게 놓는 게 아니라, 정해진 칸을 위에서부터 쌓는 방식이에요. 그래서 레이아웃이 깨지지 않고, PC랑 모바일에도 알아서 맞춰져요. 레고 생각하시면 돼요. 표, 차트, 리스트 같은 칸을 골라 끼우면 되고, 고칠 땐 그 칸만 바꾸면 끝이에요. 이 방식을 가져왔어요.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캔바에서는 디자인 시스템이 자동으로 적용되는 걸, 스티비에서는 자유 배치 대신 정해진 칸에 끼우는 방식을 가져왔고요. 그래서 누가 만들어도 디자인이 흐트러지지 않아요. 여기에 우리 뉴스레터에 맞는 걸 더했습니다. 기획안만 넣으면 초안이 나오고, 숫자나 문구는 바로 고칠 수 있어요.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운영자분들 입장에서 정리하면 세 가지예요. 쓰던 기획안을 그대로 올리면 초안이 나오고, 틀린 건 미리보기에서 바로 고치면 돼요. 그리고 썸네일, 콘텐츠 이미지에 전에는 못 만들던 PDF까지 한 곳에서 만들 수 있어요.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정리하면 이래요. 디자인 시스템이 자동으로 적용되고, 웹 접근성 기준 반영하여 누구나 읽기 쉽게 글자 대비랑 크기를 맞춰요. PC랑 모바일용이 한 번에 나오고, 기획안 문구나 숫자는 그대로 들어가요. 틀린 건 그 자리에서 고치면 되고, 전에는 못 만들던 PDF 자료까지 만들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뉴스레터 한 호는 세 가지로 만들어져요. 콘텐츠마다 대표로 보이는 썸네일, 본문에 들어가는 콘텐츠 이미지, 그리고 메인 콘텐츠를 담은 리드마그넷 PDF예요. 이 세 가지를 어떻게 만드는지 볼게요.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Claude랑 편집 툴이 하는 일을 나눠 보면 이래요. Claude에서는 기획안 올리고, 미리보기 확인하고, 결과를 복사해요. 썸네일은 프롬프트, 콘텐츠 이미지랑 PDF는 JSON이 나와요. 이걸 편집 툴에 붙여넣으면 디자인 시스템이 적용되고, 확인하고 고쳐서 저장하면 끝이에요. 스킬은 AX팀이 파일을 드리면 처음 한 번만 등록하시면 됩니다. 막히는 부분은 AX팀이 도와드릴게요. 그럼 15호로 직접 보여드릴게요.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B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365238"/>
            <a:ext cx="10566443" cy="548606"/>
          </a:xfrm>
          <a:prstGeom prst="rect">
            <a:avLst/>
          </a:prstGeom>
          <a:noFill/>
          <a:ln/>
        </p:spPr>
        <p:txBody>
          <a:bodyPr wrap="square" lIns="0" tIns="0" rIns="0" bIns="0" rtlCol="0" anchor="t"/>
          <a:lstStyle>
            <a:lvl1pPr marL="0" indent="0" algn="l">
              <a:lnSpc>
                <a:spcPct val="115000"/>
              </a:lnSpc>
              <a:buNone/>
              <a:defRPr lang="en-US" sz="3600" dirty="0">
                <a:solidFill>
                  <a:srgbClr val="031552"/>
                </a:solidFill>
                <a:latin typeface="Pretendard" pitchFamily="34" charset="0"/>
                <a:ea typeface="Pretendard" pitchFamily="34" charset="-122"/>
                <a:cs typeface="Pretendar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74" y="2218645"/>
            <a:ext cx="10566426" cy="3826555"/>
          </a:xfrm>
          <a:prstGeom prst="rect">
            <a:avLst/>
          </a:prstGeom>
          <a:noFill/>
          <a:ln/>
        </p:spPr>
        <p:txBody>
          <a:bodyPr wrap="square" lIns="0" tIns="0" rIns="0" bIns="0" rtlCol="0" anchor="t"/>
          <a:lstStyle>
            <a:lvl1pPr marL="0" indent="0" algn="l">
              <a:lnSpc>
                <a:spcPct val="140000"/>
              </a:lnSpc>
              <a:buNone/>
              <a:defRPr lang="en-US" sz="1600" dirty="0">
                <a:solidFill>
                  <a:srgbClr val="031552"/>
                </a:solidFill>
                <a:latin typeface="Pretendard" pitchFamily="34" charset="0"/>
                <a:ea typeface="Pretendard" pitchFamily="34" charset="-122"/>
                <a:cs typeface="Pretendard"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B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365238"/>
            <a:ext cx="10566443" cy="548606"/>
          </a:xfrm>
          <a:prstGeom prst="rect">
            <a:avLst/>
          </a:prstGeom>
          <a:noFill/>
          <a:ln/>
        </p:spPr>
        <p:txBody>
          <a:bodyPr wrap="square" lIns="0" tIns="0" rIns="0" bIns="0" rtlCol="0" anchor="t"/>
          <a:lstStyle>
            <a:lvl1pPr marL="0" indent="0" algn="l">
              <a:lnSpc>
                <a:spcPct val="115000"/>
              </a:lnSpc>
              <a:buNone/>
              <a:defRPr lang="en-US" sz="3600" dirty="0">
                <a:solidFill>
                  <a:srgbClr val="031552"/>
                </a:solidFill>
                <a:latin typeface="Pretendard" pitchFamily="34" charset="0"/>
                <a:ea typeface="Pretendard" pitchFamily="34" charset="-122"/>
                <a:cs typeface="Pretendar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74" y="2218645"/>
            <a:ext cx="10566426" cy="3826555"/>
          </a:xfrm>
          <a:prstGeom prst="rect">
            <a:avLst/>
          </a:prstGeom>
          <a:noFill/>
          <a:ln/>
        </p:spPr>
        <p:txBody>
          <a:bodyPr wrap="square" lIns="0" tIns="0" rIns="0" bIns="0" rtlCol="0" anchor="t"/>
          <a:lstStyle>
            <a:lvl1pPr marL="0" indent="0" algn="l">
              <a:lnSpc>
                <a:spcPct val="140000"/>
              </a:lnSpc>
              <a:buNone/>
              <a:defRPr lang="en-US" sz="1600" dirty="0">
                <a:solidFill>
                  <a:srgbClr val="031552"/>
                </a:solidFill>
                <a:latin typeface="Pretendard" pitchFamily="34" charset="0"/>
                <a:ea typeface="Pretendard" pitchFamily="34" charset="-122"/>
                <a:cs typeface="Pretendard"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1552"/>
        </a:solidFill>
        <a:effectLst/>
      </p:bgPr>
    </p:bg>
    <p:spTree>
      <p:nvGrpSpPr>
        <p:cNvPr id="1" name=""/>
        <p:cNvGrpSpPr/>
        <p:nvPr/>
      </p:nvGrpSpPr>
      <p:grpSpPr>
        <a:xfrm>
          <a:off x="0" y="0"/>
          <a:ext cx="0" cy="0"/>
          <a:chOff x="0" y="0"/>
          <a:chExt cx="0" cy="0"/>
        </a:xfrm>
      </p:grpSpPr>
      <p:sp>
        <p:nvSpPr>
          <p:cNvPr id="2" name="Shape 0"/>
          <p:cNvSpPr/>
          <p:nvPr/>
        </p:nvSpPr>
        <p:spPr>
          <a:xfrm>
            <a:off x="6175088" y="1650981"/>
            <a:ext cx="5714960" cy="4952998"/>
          </a:xfrm>
          <a:prstGeom prst="rect">
            <a:avLst/>
          </a:prstGeom>
          <a:gradFill rotWithShape="1">
            <a:gsLst>
              <a:gs pos="0">
                <a:srgbClr val="1D55C4">
                  <a:alpha val="80000"/>
                </a:srgbClr>
              </a:gs>
              <a:gs pos="70000">
                <a:srgbClr val="031552">
                  <a:alpha val="80000"/>
                </a:srgbClr>
              </a:gs>
            </a:gsLst>
            <a:path path="circle">
              <a:fillToRect l="50000" t="50000" r="50000" b="50000"/>
            </a:path>
          </a:gradFill>
          <a:ln/>
        </p:spPr>
        <p:txBody>
          <a:bodyPr/>
          <a:lstStyle/>
          <a:p>
            <a:endParaRPr lang="ko-KR" altLang="en-US"/>
          </a:p>
        </p:txBody>
      </p:sp>
      <p:pic>
        <p:nvPicPr>
          <p:cNvPr id="3" name="Image 0" descr="AX Studio · Newsletter 편집 화면: 왼쪽 메뉴, 썸네일 입력 항목, 오른쪽 썸네일 미리보기와 자동 점검"/>
          <p:cNvPicPr>
            <a:picLocks noChangeAspect="1"/>
          </p:cNvPicPr>
          <p:nvPr/>
        </p:nvPicPr>
        <p:blipFill>
          <a:blip r:embed="rId3"/>
          <a:srcRect l="13" r="13"/>
          <a:stretch/>
        </p:blipFill>
        <p:spPr>
          <a:xfrm>
            <a:off x="6416818" y="1556096"/>
            <a:ext cx="5079947" cy="3987788"/>
          </a:xfrm>
          <a:prstGeom prst="roundRect">
            <a:avLst>
              <a:gd name="adj" fmla="val 6369"/>
            </a:avLst>
          </a:prstGeom>
          <a:effectLst>
            <a:outerShdw blurRad="762000" dist="254000" dir="5400000" algn="bl" rotWithShape="0">
              <a:srgbClr val="000000">
                <a:alpha val="55000"/>
              </a:srgbClr>
            </a:outerShdw>
          </a:effectLst>
        </p:spPr>
      </p:pic>
      <p:sp>
        <p:nvSpPr>
          <p:cNvPr id="4" name="Text 1"/>
          <p:cNvSpPr/>
          <p:nvPr/>
        </p:nvSpPr>
        <p:spPr>
          <a:xfrm>
            <a:off x="812774" y="1650981"/>
            <a:ext cx="5886409" cy="309838"/>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5998F7"/>
                </a:solidFill>
                <a:latin typeface="Pretendard" pitchFamily="34" charset="0"/>
                <a:ea typeface="Pretendard" pitchFamily="34" charset="-122"/>
                <a:cs typeface="Pretendard" pitchFamily="34" charset="-120"/>
              </a:rPr>
              <a:t>AX STUDIO · NEWSLETTER</a:t>
            </a:r>
            <a:endParaRPr lang="en-US" sz="1600" dirty="0"/>
          </a:p>
        </p:txBody>
      </p:sp>
      <p:sp>
        <p:nvSpPr>
          <p:cNvPr id="5" name="Text 2"/>
          <p:cNvSpPr>
            <a:spLocks noGrp="1"/>
          </p:cNvSpPr>
          <p:nvPr>
            <p:ph type="title"/>
          </p:nvPr>
        </p:nvSpPr>
        <p:spPr>
          <a:xfrm>
            <a:off x="812774" y="2095464"/>
            <a:ext cx="6017222" cy="1193803"/>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5FBFF"/>
                </a:solidFill>
                <a:latin typeface="Pretendard" pitchFamily="34" charset="0"/>
                <a:ea typeface="Pretendard" pitchFamily="34" charset="-122"/>
                <a:cs typeface="Pretendard" pitchFamily="34" charset="-120"/>
              </a:rPr>
              <a:t>뉴스레터,이제 기획안이</a:t>
            </a:r>
            <a:endParaRPr lang="en-US" sz="4000" dirty="0"/>
          </a:p>
          <a:p>
            <a:pPr marL="0" indent="0" algn="l">
              <a:lnSpc>
                <a:spcPts val="4600"/>
              </a:lnSpc>
              <a:buNone/>
            </a:pPr>
            <a:r>
              <a:rPr lang="en-US" sz="4000" b="1" i="0" dirty="0">
                <a:solidFill>
                  <a:srgbClr val="0AC262"/>
                </a:solidFill>
                <a:latin typeface="Pretendard" pitchFamily="34" charset="0"/>
                <a:ea typeface="Pretendard" pitchFamily="34" charset="-122"/>
                <a:cs typeface="Pretendard" pitchFamily="34" charset="-120"/>
              </a:rPr>
              <a:t>디자인으로 완성</a:t>
            </a:r>
            <a:r>
              <a:rPr lang="en-US" sz="4000" b="1" i="0" dirty="0">
                <a:solidFill>
                  <a:srgbClr val="F5FBFF"/>
                </a:solidFill>
                <a:latin typeface="Pretendard" pitchFamily="34" charset="0"/>
                <a:ea typeface="Pretendard" pitchFamily="34" charset="-122"/>
                <a:cs typeface="Pretendard" pitchFamily="34" charset="-120"/>
              </a:rPr>
              <a:t>됩니다</a:t>
            </a:r>
            <a:endParaRPr lang="en-US" sz="4000" dirty="0"/>
          </a:p>
        </p:txBody>
      </p:sp>
      <p:sp>
        <p:nvSpPr>
          <p:cNvPr id="6" name="Text 3"/>
          <p:cNvSpPr/>
          <p:nvPr/>
        </p:nvSpPr>
        <p:spPr>
          <a:xfrm>
            <a:off x="812774" y="3407771"/>
            <a:ext cx="5755596" cy="30983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DD3FF"/>
                </a:solidFill>
                <a:latin typeface="Pretendard" pitchFamily="34" charset="0"/>
                <a:ea typeface="Pretendard" pitchFamily="34" charset="-122"/>
                <a:cs typeface="Pretendard" pitchFamily="34" charset="-120"/>
              </a:rPr>
              <a:t>디자인 시스템이 자동으로 적용되는 뉴스레터 툴 · 15호 시연</a:t>
            </a:r>
            <a:endParaRPr lang="en-US" sz="1600" dirty="0"/>
          </a:p>
        </p:txBody>
      </p:sp>
      <p:sp>
        <p:nvSpPr>
          <p:cNvPr id="7" name="Text 4"/>
          <p:cNvSpPr/>
          <p:nvPr/>
        </p:nvSpPr>
        <p:spPr>
          <a:xfrm>
            <a:off x="812774" y="6238297"/>
            <a:ext cx="7848546"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5BAFF"/>
                </a:solidFill>
                <a:latin typeface="Pretendard" pitchFamily="34" charset="0"/>
                <a:ea typeface="Pretendard" pitchFamily="34" charset="-122"/>
                <a:cs typeface="Pretendard" pitchFamily="34" charset="-120"/>
              </a:rPr>
              <a:t>GC케어 IT개발본부 AX팀 심은진 · 2026.10.22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381"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뉴스레터의 목적</a:t>
            </a:r>
            <a:endParaRPr lang="en-US" sz="1400" dirty="0"/>
          </a:p>
        </p:txBody>
      </p:sp>
      <p:sp>
        <p:nvSpPr>
          <p:cNvPr id="3" name="Text 1"/>
          <p:cNvSpPr>
            <a:spLocks noGrp="1"/>
          </p:cNvSpPr>
          <p:nvPr>
            <p:ph type="title"/>
          </p:nvPr>
        </p:nvSpPr>
        <p:spPr>
          <a:xfrm>
            <a:off x="812774" y="1365238"/>
            <a:ext cx="10883381"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뉴스레터는 누가 읽고, 왜 필요한가요?</a:t>
            </a:r>
            <a:endParaRPr lang="en-US" sz="3600" dirty="0"/>
          </a:p>
        </p:txBody>
      </p:sp>
      <p:sp>
        <p:nvSpPr>
          <p:cNvPr id="4" name="Shape 2"/>
          <p:cNvSpPr/>
          <p:nvPr/>
        </p:nvSpPr>
        <p:spPr>
          <a:xfrm>
            <a:off x="819124" y="2228817"/>
            <a:ext cx="5179305" cy="3028899"/>
          </a:xfrm>
          <a:prstGeom prst="roundRect">
            <a:avLst>
              <a:gd name="adj" fmla="val 4822"/>
            </a:avLst>
          </a:prstGeom>
          <a:solidFill>
            <a:srgbClr val="FFFFFF"/>
          </a:solidFill>
          <a:ln w="12700">
            <a:solidFill>
              <a:srgbClr val="D6EAFF"/>
            </a:solidFill>
            <a:prstDash val="solid"/>
          </a:ln>
        </p:spPr>
        <p:txBody>
          <a:bodyPr/>
          <a:lstStyle/>
          <a:p>
            <a:endParaRPr lang="ko-KR" altLang="en-US"/>
          </a:p>
        </p:txBody>
      </p:sp>
      <p:sp>
        <p:nvSpPr>
          <p:cNvPr id="5" name="Text 3"/>
          <p:cNvSpPr/>
          <p:nvPr/>
        </p:nvSpPr>
        <p:spPr>
          <a:xfrm>
            <a:off x="1178783" y="2588475"/>
            <a:ext cx="4593786"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대상</a:t>
            </a:r>
            <a:endParaRPr lang="en-US" sz="1400" dirty="0"/>
          </a:p>
        </p:txBody>
      </p:sp>
      <p:sp>
        <p:nvSpPr>
          <p:cNvPr id="6" name="Text 4"/>
          <p:cNvSpPr/>
          <p:nvPr/>
        </p:nvSpPr>
        <p:spPr>
          <a:xfrm>
            <a:off x="1178783" y="2989754"/>
            <a:ext cx="4593786" cy="817849"/>
          </a:xfrm>
          <a:prstGeom prst="rect">
            <a:avLst/>
          </a:prstGeom>
          <a:noFill/>
          <a:ln/>
        </p:spPr>
        <p:txBody>
          <a:bodyPr wrap="square" lIns="0" tIns="0" rIns="0" bIns="0" rtlCol="0" anchor="t">
            <a:normAutofit/>
          </a:bodyPr>
          <a:lstStyle/>
          <a:p>
            <a:pPr marL="0" indent="0" algn="l">
              <a:lnSpc>
                <a:spcPts val="3120"/>
              </a:lnSpc>
              <a:buNone/>
            </a:pPr>
            <a:r>
              <a:rPr lang="en-US" sz="2400" b="1" dirty="0">
                <a:solidFill>
                  <a:srgbClr val="031552"/>
                </a:solidFill>
                <a:latin typeface="Pretendard" pitchFamily="34" charset="0"/>
                <a:ea typeface="Pretendard" pitchFamily="34" charset="-122"/>
                <a:cs typeface="Pretendard" pitchFamily="34" charset="-120"/>
              </a:rPr>
              <a:t>잠재 고객,</a:t>
            </a:r>
            <a:endParaRPr lang="en-US" sz="2400" dirty="0"/>
          </a:p>
          <a:p>
            <a:pPr marL="0" indent="0" algn="l">
              <a:lnSpc>
                <a:spcPts val="3120"/>
              </a:lnSpc>
              <a:buNone/>
            </a:pPr>
            <a:r>
              <a:rPr lang="en-US" sz="2400" b="1" dirty="0">
                <a:solidFill>
                  <a:srgbClr val="031552"/>
                </a:solidFill>
                <a:latin typeface="Pretendard" pitchFamily="34" charset="0"/>
                <a:ea typeface="Pretendard" pitchFamily="34" charset="-122"/>
                <a:cs typeface="Pretendard" pitchFamily="34" charset="-120"/>
              </a:rPr>
              <a:t>그리고 고객사 담당자·임직원</a:t>
            </a:r>
            <a:endParaRPr lang="en-US" sz="2400" dirty="0"/>
          </a:p>
        </p:txBody>
      </p:sp>
      <p:sp>
        <p:nvSpPr>
          <p:cNvPr id="7" name="Text 5"/>
          <p:cNvSpPr/>
          <p:nvPr/>
        </p:nvSpPr>
        <p:spPr>
          <a:xfrm>
            <a:off x="1178783" y="3934585"/>
            <a:ext cx="4593786" cy="311088"/>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676E71"/>
                </a:solidFill>
                <a:latin typeface="Pretendard" pitchFamily="34" charset="0"/>
                <a:ea typeface="Pretendard" pitchFamily="34" charset="-122"/>
                <a:cs typeface="Pretendard" pitchFamily="34" charset="-120"/>
              </a:rPr>
              <a:t>관심 기업 · 보건관리자 · 인사 담당자 · 임직원</a:t>
            </a:r>
            <a:endParaRPr lang="en-US" sz="1500" dirty="0"/>
          </a:p>
        </p:txBody>
      </p:sp>
      <p:sp>
        <p:nvSpPr>
          <p:cNvPr id="8" name="Shape 6"/>
          <p:cNvSpPr/>
          <p:nvPr/>
        </p:nvSpPr>
        <p:spPr>
          <a:xfrm>
            <a:off x="6207972" y="2222467"/>
            <a:ext cx="5171191" cy="3041599"/>
          </a:xfrm>
          <a:prstGeom prst="roundRect">
            <a:avLst>
              <a:gd name="adj" fmla="val 5011"/>
            </a:avLst>
          </a:prstGeom>
          <a:solidFill>
            <a:srgbClr val="031552"/>
          </a:solidFill>
          <a:ln/>
        </p:spPr>
        <p:txBody>
          <a:bodyPr/>
          <a:lstStyle/>
          <a:p>
            <a:endParaRPr lang="ko-KR" altLang="en-US"/>
          </a:p>
        </p:txBody>
      </p:sp>
      <p:sp>
        <p:nvSpPr>
          <p:cNvPr id="9" name="Text 7"/>
          <p:cNvSpPr/>
          <p:nvPr/>
        </p:nvSpPr>
        <p:spPr>
          <a:xfrm>
            <a:off x="6563547" y="2578042"/>
            <a:ext cx="4593842"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AC262"/>
                </a:solidFill>
                <a:latin typeface="Pretendard" pitchFamily="34" charset="0"/>
                <a:ea typeface="Pretendard" pitchFamily="34" charset="-122"/>
                <a:cs typeface="Pretendard" pitchFamily="34" charset="-120"/>
              </a:rPr>
              <a:t>목적</a:t>
            </a:r>
            <a:endParaRPr lang="en-US" sz="1400" dirty="0"/>
          </a:p>
        </p:txBody>
      </p:sp>
      <p:sp>
        <p:nvSpPr>
          <p:cNvPr id="10" name="Text 8"/>
          <p:cNvSpPr/>
          <p:nvPr/>
        </p:nvSpPr>
        <p:spPr>
          <a:xfrm>
            <a:off x="6563547" y="2979320"/>
            <a:ext cx="4593842" cy="421625"/>
          </a:xfrm>
          <a:prstGeom prst="rect">
            <a:avLst/>
          </a:prstGeom>
          <a:noFill/>
          <a:ln/>
        </p:spPr>
        <p:txBody>
          <a:bodyPr wrap="square" lIns="0" tIns="0" rIns="0" bIns="0" rtlCol="0" anchor="t">
            <a:normAutofit/>
          </a:bodyPr>
          <a:lstStyle/>
          <a:p>
            <a:pPr marL="0" indent="0" algn="l">
              <a:lnSpc>
                <a:spcPts val="3120"/>
              </a:lnSpc>
              <a:buNone/>
            </a:pPr>
            <a:r>
              <a:rPr lang="en-US" sz="2400" b="1" dirty="0">
                <a:solidFill>
                  <a:srgbClr val="FFFFFF"/>
                </a:solidFill>
                <a:latin typeface="Pretendard" pitchFamily="34" charset="0"/>
                <a:ea typeface="Pretendard" pitchFamily="34" charset="-122"/>
                <a:cs typeface="Pretendard" pitchFamily="34" charset="-120"/>
              </a:rPr>
              <a:t> GC케어 홍보 +실무 활용</a:t>
            </a:r>
            <a:endParaRPr lang="en-US" sz="2400" dirty="0"/>
          </a:p>
        </p:txBody>
      </p:sp>
      <p:sp>
        <p:nvSpPr>
          <p:cNvPr id="11" name="Text 9"/>
          <p:cNvSpPr/>
          <p:nvPr/>
        </p:nvSpPr>
        <p:spPr>
          <a:xfrm>
            <a:off x="6563547" y="3527927"/>
            <a:ext cx="4593842" cy="596777"/>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ADD3FF"/>
                </a:solidFill>
                <a:latin typeface="Pretendard" pitchFamily="34" charset="0"/>
                <a:ea typeface="Pretendard" pitchFamily="34" charset="-122"/>
                <a:cs typeface="Pretendard" pitchFamily="34" charset="-120"/>
              </a:rPr>
              <a:t>담당자는 읽고 바로 실무에 활용, 관심 기업은 상담·도입 문의로 연결</a:t>
            </a:r>
            <a:endParaRPr lang="en-US" sz="1500" dirty="0"/>
          </a:p>
        </p:txBody>
      </p:sp>
      <p:sp>
        <p:nvSpPr>
          <p:cNvPr id="12" name="Text 10"/>
          <p:cNvSpPr/>
          <p:nvPr/>
        </p:nvSpPr>
        <p:spPr>
          <a:xfrm>
            <a:off x="812774" y="5682571"/>
            <a:ext cx="1362238" cy="274297"/>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031552"/>
                </a:solidFill>
                <a:latin typeface="Pretendard" pitchFamily="34" charset="0"/>
                <a:ea typeface="Pretendard" pitchFamily="34" charset="-122"/>
                <a:cs typeface="Pretendard" pitchFamily="34" charset="-120"/>
              </a:rPr>
              <a:t>같은 콘텐츠로 발행</a:t>
            </a:r>
            <a:endParaRPr lang="en-US" sz="1400" dirty="0"/>
          </a:p>
        </p:txBody>
      </p:sp>
      <p:sp>
        <p:nvSpPr>
          <p:cNvPr id="13" name="Text 11"/>
          <p:cNvSpPr/>
          <p:nvPr/>
        </p:nvSpPr>
        <p:spPr>
          <a:xfrm>
            <a:off x="2251160" y="5564536"/>
            <a:ext cx="4500527" cy="485023"/>
          </a:xfrm>
          <a:custGeom>
            <a:avLst/>
            <a:gdLst/>
            <a:ahLst/>
            <a:cxnLst/>
            <a:rect l="l" t="t" r="r" b="b"/>
            <a:pathLst>
              <a:path w="4500527" h="485023">
                <a:moveTo>
                  <a:pt x="242512" y="0"/>
                </a:moveTo>
                <a:lnTo>
                  <a:pt x="4258016" y="0"/>
                </a:lnTo>
                <a:arcTo wR="242512" hR="242512" stAng="16200000" swAng="5400000"/>
                <a:lnTo>
                  <a:pt x="4500527" y="242512"/>
                </a:lnTo>
                <a:arcTo wR="242512" hR="242512" stAng="0" swAng="5400000"/>
                <a:lnTo>
                  <a:pt x="242512" y="485023"/>
                </a:lnTo>
                <a:arcTo wR="242512" hR="242512" stAng="5400000" swAng="5400000"/>
                <a:lnTo>
                  <a:pt x="0" y="242512"/>
                </a:lnTo>
                <a:arcTo wR="242512" hR="242512" stAng="10800000" swAng="5400000"/>
                <a:close/>
              </a:path>
            </a:pathLst>
          </a:custGeom>
          <a:solidFill>
            <a:srgbClr val="D6EAFF"/>
          </a:solidFill>
          <a:ln/>
        </p:spPr>
        <p:txBody>
          <a:bodyPr wrap="square" lIns="37140" tIns="127000" rIns="37140" bIns="101600" rtlCol="0" anchor="t">
            <a:normAutofit/>
          </a:bodyPr>
          <a:lstStyle/>
          <a:p>
            <a:pPr marL="0" indent="0" algn="ctr">
              <a:lnSpc>
                <a:spcPts val="1820"/>
              </a:lnSpc>
              <a:buNone/>
            </a:pPr>
            <a:r>
              <a:rPr lang="en-US" sz="1300" b="1" dirty="0">
                <a:solidFill>
                  <a:srgbClr val="031552"/>
                </a:solidFill>
                <a:latin typeface="Pretendard" pitchFamily="34" charset="0"/>
                <a:ea typeface="Pretendard" pitchFamily="34" charset="-122"/>
                <a:cs typeface="Pretendard" pitchFamily="34" charset="-120"/>
              </a:rPr>
              <a:t>GC케어 홈페이지 뉴스레터 코너</a:t>
            </a:r>
            <a:endParaRPr lang="en-US" sz="1300" dirty="0"/>
          </a:p>
        </p:txBody>
      </p:sp>
      <p:sp>
        <p:nvSpPr>
          <p:cNvPr id="14" name="Text 12"/>
          <p:cNvSpPr/>
          <p:nvPr/>
        </p:nvSpPr>
        <p:spPr>
          <a:xfrm>
            <a:off x="6878636" y="5564536"/>
            <a:ext cx="4500527" cy="485023"/>
          </a:xfrm>
          <a:custGeom>
            <a:avLst/>
            <a:gdLst/>
            <a:ahLst/>
            <a:cxnLst/>
            <a:rect l="l" t="t" r="r" b="b"/>
            <a:pathLst>
              <a:path w="4500527" h="485023">
                <a:moveTo>
                  <a:pt x="242512" y="0"/>
                </a:moveTo>
                <a:lnTo>
                  <a:pt x="4258016" y="0"/>
                </a:lnTo>
                <a:arcTo wR="242512" hR="242512" stAng="16200000" swAng="5400000"/>
                <a:lnTo>
                  <a:pt x="4500527" y="242512"/>
                </a:lnTo>
                <a:arcTo wR="242512" hR="242512" stAng="0" swAng="5400000"/>
                <a:lnTo>
                  <a:pt x="242512" y="485023"/>
                </a:lnTo>
                <a:arcTo wR="242512" hR="242512" stAng="5400000" swAng="5400000"/>
                <a:lnTo>
                  <a:pt x="0" y="242512"/>
                </a:lnTo>
                <a:arcTo wR="242512" hR="242512" stAng="10800000" swAng="5400000"/>
                <a:close/>
              </a:path>
            </a:pathLst>
          </a:custGeom>
          <a:solidFill>
            <a:srgbClr val="D6EAFF"/>
          </a:solidFill>
          <a:ln/>
        </p:spPr>
        <p:txBody>
          <a:bodyPr wrap="square" lIns="37140" tIns="127000" rIns="37140" bIns="101600" rtlCol="0" anchor="t">
            <a:normAutofit/>
          </a:bodyPr>
          <a:lstStyle/>
          <a:p>
            <a:pPr marL="0" indent="0" algn="ctr">
              <a:lnSpc>
                <a:spcPts val="1820"/>
              </a:lnSpc>
              <a:buNone/>
            </a:pPr>
            <a:r>
              <a:rPr lang="en-US" sz="1300" b="1" dirty="0">
                <a:solidFill>
                  <a:srgbClr val="031552"/>
                </a:solidFill>
                <a:latin typeface="Pretendard" pitchFamily="34" charset="0"/>
                <a:ea typeface="Pretendard" pitchFamily="34" charset="-122"/>
                <a:cs typeface="Pretendard" pitchFamily="34" charset="-120"/>
              </a:rPr>
              <a:t>메일 뉴스레터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4"/>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지금은 어떻게 하고 있나</a:t>
            </a:r>
            <a:endParaRPr lang="en-US" sz="1400" dirty="0"/>
          </a:p>
        </p:txBody>
      </p:sp>
      <p:sp>
        <p:nvSpPr>
          <p:cNvPr id="3" name="Text 1"/>
          <p:cNvSpPr>
            <a:spLocks noGrp="1"/>
          </p:cNvSpPr>
          <p:nvPr>
            <p:ph type="title"/>
          </p:nvPr>
        </p:nvSpPr>
        <p:spPr>
          <a:xfrm>
            <a:off x="812774" y="1417247"/>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수정 하나에도 기다림이 생깁니다</a:t>
            </a:r>
            <a:endParaRPr lang="en-US" sz="3600" dirty="0"/>
          </a:p>
        </p:txBody>
      </p:sp>
      <p:sp>
        <p:nvSpPr>
          <p:cNvPr id="4" name="Text 2"/>
          <p:cNvSpPr/>
          <p:nvPr/>
        </p:nvSpPr>
        <p:spPr>
          <a:xfrm>
            <a:off x="819124" y="2469997"/>
            <a:ext cx="1694310" cy="749751"/>
          </a:xfrm>
          <a:prstGeom prst="roundRect">
            <a:avLst>
              <a:gd name="adj" fmla="val 16092"/>
            </a:avLst>
          </a:prstGeom>
          <a:solidFill>
            <a:srgbClr val="FFFFFF"/>
          </a:solidFill>
          <a:ln w="12700">
            <a:solidFill>
              <a:srgbClr val="ADD3FF"/>
            </a:solidFill>
            <a:prstDash val="solid"/>
          </a:ln>
        </p:spPr>
        <p:txBody>
          <a:bodyPr wrap="square" lIns="44947" tIns="197347" rIns="44947" bIns="171947" rtlCol="0" anchor="t">
            <a:normAutofit/>
          </a:bodyPr>
          <a:lstStyle/>
          <a:p>
            <a:pPr marL="0" indent="0" algn="ctr">
              <a:lnSpc>
                <a:spcPts val="2240"/>
              </a:lnSpc>
              <a:buNone/>
            </a:pPr>
            <a:r>
              <a:rPr lang="en-US" sz="1600" b="1" dirty="0">
                <a:solidFill>
                  <a:srgbClr val="031552"/>
                </a:solidFill>
                <a:latin typeface="Pretendard" pitchFamily="34" charset="0"/>
                <a:ea typeface="Pretendard" pitchFamily="34" charset="-122"/>
                <a:cs typeface="Pretendard" pitchFamily="34" charset="-120"/>
              </a:rPr>
              <a:t>기획안</a:t>
            </a:r>
            <a:endParaRPr lang="en-US" sz="1600" dirty="0"/>
          </a:p>
        </p:txBody>
      </p:sp>
      <p:pic>
        <p:nvPicPr>
          <p:cNvPr id="5" name="Image 0" descr="PaperPlane"/>
          <p:cNvPicPr>
            <a:picLocks noChangeAspect="1"/>
          </p:cNvPicPr>
          <p:nvPr/>
        </p:nvPicPr>
        <p:blipFill>
          <a:blip r:embed="rId3"/>
          <a:srcRect/>
          <a:stretch/>
        </p:blipFill>
        <p:spPr>
          <a:xfrm>
            <a:off x="2646733" y="2717870"/>
            <a:ext cx="253951" cy="253951"/>
          </a:xfrm>
          <a:prstGeom prst="rect">
            <a:avLst/>
          </a:prstGeom>
        </p:spPr>
      </p:pic>
      <p:sp>
        <p:nvSpPr>
          <p:cNvPr id="6" name="Text 3"/>
          <p:cNvSpPr/>
          <p:nvPr/>
        </p:nvSpPr>
        <p:spPr>
          <a:xfrm>
            <a:off x="3033981" y="2469997"/>
            <a:ext cx="1694310" cy="749751"/>
          </a:xfrm>
          <a:prstGeom prst="roundRect">
            <a:avLst>
              <a:gd name="adj" fmla="val 11666"/>
            </a:avLst>
          </a:prstGeom>
          <a:solidFill>
            <a:srgbClr val="FFFFFF"/>
          </a:solidFill>
          <a:ln w="12700">
            <a:solidFill>
              <a:srgbClr val="ADD3FF"/>
            </a:solidFill>
            <a:prstDash val="solid"/>
          </a:ln>
        </p:spPr>
        <p:txBody>
          <a:bodyPr wrap="square" lIns="44947" tIns="197347" rIns="44947" bIns="171947" rtlCol="0" anchor="t">
            <a:normAutofit/>
          </a:bodyPr>
          <a:lstStyle/>
          <a:p>
            <a:pPr marL="0" indent="0" algn="ctr">
              <a:lnSpc>
                <a:spcPts val="2240"/>
              </a:lnSpc>
              <a:buNone/>
            </a:pPr>
            <a:r>
              <a:rPr lang="en-US" sz="1600" b="1" dirty="0" err="1">
                <a:solidFill>
                  <a:srgbClr val="031552"/>
                </a:solidFill>
                <a:latin typeface="Pretendard" pitchFamily="34" charset="0"/>
                <a:ea typeface="Pretendard" pitchFamily="34" charset="-122"/>
                <a:cs typeface="Pretendard" pitchFamily="34" charset="-120"/>
              </a:rPr>
              <a:t>디자이너</a:t>
            </a:r>
            <a:r>
              <a:rPr lang="ko-KR" altLang="en-US" sz="1600" dirty="0"/>
              <a:t> </a:t>
            </a:r>
            <a:r>
              <a:rPr lang="en-US" sz="1600" b="1" dirty="0" err="1">
                <a:solidFill>
                  <a:srgbClr val="031552"/>
                </a:solidFill>
                <a:latin typeface="Pretendard" pitchFamily="34" charset="0"/>
                <a:ea typeface="Pretendard" pitchFamily="34" charset="-122"/>
                <a:cs typeface="Pretendard" pitchFamily="34" charset="-120"/>
              </a:rPr>
              <a:t>요청</a:t>
            </a:r>
            <a:endParaRPr lang="en-US" sz="1600" dirty="0"/>
          </a:p>
        </p:txBody>
      </p:sp>
      <p:pic>
        <p:nvPicPr>
          <p:cNvPr id="7" name="Image 1" descr="PaperPlane"/>
          <p:cNvPicPr>
            <a:picLocks noChangeAspect="1"/>
          </p:cNvPicPr>
          <p:nvPr/>
        </p:nvPicPr>
        <p:blipFill>
          <a:blip r:embed="rId3"/>
          <a:srcRect/>
          <a:stretch/>
        </p:blipFill>
        <p:spPr>
          <a:xfrm>
            <a:off x="4861591" y="2717870"/>
            <a:ext cx="253951" cy="253951"/>
          </a:xfrm>
          <a:prstGeom prst="rect">
            <a:avLst/>
          </a:prstGeom>
        </p:spPr>
      </p:pic>
      <p:sp>
        <p:nvSpPr>
          <p:cNvPr id="8" name="Text 4"/>
          <p:cNvSpPr/>
          <p:nvPr/>
        </p:nvSpPr>
        <p:spPr>
          <a:xfrm>
            <a:off x="5248841" y="2469997"/>
            <a:ext cx="1694310" cy="749751"/>
          </a:xfrm>
          <a:prstGeom prst="roundRect">
            <a:avLst>
              <a:gd name="adj" fmla="val 16092"/>
            </a:avLst>
          </a:prstGeom>
          <a:solidFill>
            <a:srgbClr val="FFFFFF"/>
          </a:solidFill>
          <a:ln w="12700">
            <a:solidFill>
              <a:srgbClr val="ADD3FF"/>
            </a:solidFill>
            <a:prstDash val="solid"/>
          </a:ln>
        </p:spPr>
        <p:txBody>
          <a:bodyPr wrap="square" lIns="44947" tIns="197347" rIns="44947" bIns="171947" rtlCol="0" anchor="t">
            <a:normAutofit/>
          </a:bodyPr>
          <a:lstStyle/>
          <a:p>
            <a:pPr marL="0" indent="0" algn="ctr">
              <a:lnSpc>
                <a:spcPts val="2240"/>
              </a:lnSpc>
              <a:buNone/>
            </a:pPr>
            <a:r>
              <a:rPr lang="en-US" sz="1600" b="1" dirty="0">
                <a:solidFill>
                  <a:srgbClr val="031552"/>
                </a:solidFill>
                <a:latin typeface="Pretendard" pitchFamily="34" charset="0"/>
                <a:ea typeface="Pretendard" pitchFamily="34" charset="-122"/>
                <a:cs typeface="Pretendard" pitchFamily="34" charset="-120"/>
              </a:rPr>
              <a:t>시안</a:t>
            </a:r>
            <a:endParaRPr lang="en-US" sz="1600" dirty="0"/>
          </a:p>
        </p:txBody>
      </p:sp>
      <p:pic>
        <p:nvPicPr>
          <p:cNvPr id="9" name="Image 2" descr="PaperPlane"/>
          <p:cNvPicPr>
            <a:picLocks noChangeAspect="1"/>
          </p:cNvPicPr>
          <p:nvPr/>
        </p:nvPicPr>
        <p:blipFill>
          <a:blip r:embed="rId3"/>
          <a:srcRect/>
          <a:stretch/>
        </p:blipFill>
        <p:spPr>
          <a:xfrm>
            <a:off x="7076449" y="2717870"/>
            <a:ext cx="253951" cy="253951"/>
          </a:xfrm>
          <a:prstGeom prst="rect">
            <a:avLst/>
          </a:prstGeom>
        </p:spPr>
      </p:pic>
      <p:sp>
        <p:nvSpPr>
          <p:cNvPr id="10" name="Text 5"/>
          <p:cNvSpPr/>
          <p:nvPr/>
        </p:nvSpPr>
        <p:spPr>
          <a:xfrm>
            <a:off x="7463698" y="2495397"/>
            <a:ext cx="1694310" cy="749752"/>
          </a:xfrm>
          <a:prstGeom prst="roundRect">
            <a:avLst>
              <a:gd name="adj" fmla="val 11666"/>
            </a:avLst>
          </a:prstGeom>
          <a:solidFill>
            <a:srgbClr val="FFFFFF"/>
          </a:solidFill>
          <a:ln w="12700">
            <a:solidFill>
              <a:srgbClr val="ADD3FF"/>
            </a:solidFill>
            <a:prstDash val="solid"/>
          </a:ln>
        </p:spPr>
        <p:txBody>
          <a:bodyPr wrap="square" lIns="44947" tIns="197347" rIns="44947" bIns="171947" rtlCol="0" anchor="t">
            <a:normAutofit/>
          </a:bodyPr>
          <a:lstStyle/>
          <a:p>
            <a:pPr marL="0" indent="0" algn="ctr">
              <a:lnSpc>
                <a:spcPts val="2240"/>
              </a:lnSpc>
              <a:buNone/>
            </a:pPr>
            <a:r>
              <a:rPr lang="en-US" sz="1600" b="1" dirty="0" err="1">
                <a:solidFill>
                  <a:srgbClr val="031552"/>
                </a:solidFill>
                <a:latin typeface="Pretendard" pitchFamily="34" charset="0"/>
                <a:ea typeface="Pretendard" pitchFamily="34" charset="-122"/>
                <a:cs typeface="Pretendard" pitchFamily="34" charset="-120"/>
              </a:rPr>
              <a:t>수정</a:t>
            </a:r>
            <a:r>
              <a:rPr lang="ko-KR" altLang="en-US" sz="1600" dirty="0"/>
              <a:t> </a:t>
            </a:r>
            <a:r>
              <a:rPr lang="en-US" sz="1600" b="1" dirty="0" err="1">
                <a:solidFill>
                  <a:srgbClr val="031552"/>
                </a:solidFill>
                <a:latin typeface="Pretendard" pitchFamily="34" charset="0"/>
                <a:ea typeface="Pretendard" pitchFamily="34" charset="-122"/>
                <a:cs typeface="Pretendard" pitchFamily="34" charset="-120"/>
              </a:rPr>
              <a:t>요청</a:t>
            </a:r>
            <a:endParaRPr lang="en-US" sz="1600" dirty="0"/>
          </a:p>
        </p:txBody>
      </p:sp>
      <p:pic>
        <p:nvPicPr>
          <p:cNvPr id="11" name="Image 3" descr="PaperPlane"/>
          <p:cNvPicPr>
            <a:picLocks noChangeAspect="1"/>
          </p:cNvPicPr>
          <p:nvPr/>
        </p:nvPicPr>
        <p:blipFill>
          <a:blip r:embed="rId3"/>
          <a:srcRect/>
          <a:stretch/>
        </p:blipFill>
        <p:spPr>
          <a:xfrm>
            <a:off x="9291308" y="2717870"/>
            <a:ext cx="253951" cy="253951"/>
          </a:xfrm>
          <a:prstGeom prst="rect">
            <a:avLst/>
          </a:prstGeom>
        </p:spPr>
      </p:pic>
      <p:sp>
        <p:nvSpPr>
          <p:cNvPr id="12" name="Text 6"/>
          <p:cNvSpPr/>
          <p:nvPr/>
        </p:nvSpPr>
        <p:spPr>
          <a:xfrm>
            <a:off x="9678557" y="2469997"/>
            <a:ext cx="1694310" cy="749751"/>
          </a:xfrm>
          <a:prstGeom prst="roundRect">
            <a:avLst>
              <a:gd name="adj" fmla="val 16092"/>
            </a:avLst>
          </a:prstGeom>
          <a:solidFill>
            <a:srgbClr val="FFFFFF"/>
          </a:solidFill>
          <a:ln w="12700">
            <a:solidFill>
              <a:srgbClr val="ADD3FF"/>
            </a:solidFill>
            <a:prstDash val="solid"/>
          </a:ln>
        </p:spPr>
        <p:txBody>
          <a:bodyPr wrap="square" lIns="44947" tIns="197347" rIns="44947" bIns="171947" rtlCol="0" anchor="t">
            <a:normAutofit/>
          </a:bodyPr>
          <a:lstStyle/>
          <a:p>
            <a:pPr marL="0" indent="0" algn="ctr">
              <a:lnSpc>
                <a:spcPts val="2240"/>
              </a:lnSpc>
              <a:buNone/>
            </a:pPr>
            <a:r>
              <a:rPr lang="en-US" sz="1600" b="1" dirty="0">
                <a:solidFill>
                  <a:srgbClr val="031552"/>
                </a:solidFill>
                <a:latin typeface="Pretendard" pitchFamily="34" charset="0"/>
                <a:ea typeface="Pretendard" pitchFamily="34" charset="-122"/>
                <a:cs typeface="Pretendard" pitchFamily="34" charset="-120"/>
              </a:rPr>
              <a:t>재작업</a:t>
            </a:r>
            <a:endParaRPr lang="en-US" sz="1600" dirty="0"/>
          </a:p>
        </p:txBody>
      </p:sp>
      <p:sp>
        <p:nvSpPr>
          <p:cNvPr id="13" name="Text 7"/>
          <p:cNvSpPr/>
          <p:nvPr/>
        </p:nvSpPr>
        <p:spPr>
          <a:xfrm>
            <a:off x="812774" y="3723892"/>
            <a:ext cx="10883437" cy="30983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676E71"/>
                </a:solidFill>
                <a:latin typeface="Pretendard" pitchFamily="34" charset="0"/>
                <a:ea typeface="Pretendard" pitchFamily="34" charset="-122"/>
                <a:cs typeface="Pretendard" pitchFamily="34" charset="-120"/>
              </a:rPr>
              <a:t>오탈자나 숫자 하나만 바꿔도 디자이너 일정을 기다려야 합니다</a:t>
            </a:r>
            <a:endParaRPr lang="en-US" sz="1600" dirty="0"/>
          </a:p>
        </p:txBody>
      </p:sp>
      <p:sp>
        <p:nvSpPr>
          <p:cNvPr id="14" name="Text 8"/>
          <p:cNvSpPr/>
          <p:nvPr/>
        </p:nvSpPr>
        <p:spPr>
          <a:xfrm>
            <a:off x="812774" y="5196949"/>
            <a:ext cx="10566443" cy="848261"/>
          </a:xfrm>
          <a:prstGeom prst="roundRect">
            <a:avLst>
              <a:gd name="adj" fmla="val 14972"/>
            </a:avLst>
          </a:prstGeom>
          <a:solidFill>
            <a:srgbClr val="031552"/>
          </a:solidFill>
          <a:ln/>
        </p:spPr>
        <p:txBody>
          <a:bodyPr wrap="square" lIns="267603" tIns="191403" rIns="0" bIns="166003" rtlCol="0" anchor="t">
            <a:normAutofit/>
          </a:bodyPr>
          <a:lstStyle/>
          <a:p>
            <a:pPr marL="0" indent="0" algn="l">
              <a:lnSpc>
                <a:spcPts val="3080"/>
              </a:lnSpc>
              <a:buNone/>
            </a:pPr>
            <a:r>
              <a:rPr lang="en-US" sz="2200" b="1" dirty="0">
                <a:solidFill>
                  <a:srgbClr val="FFFFFF"/>
                </a:solidFill>
                <a:latin typeface="Pretendard" pitchFamily="34" charset="0"/>
                <a:ea typeface="Pretendard" pitchFamily="34" charset="-122"/>
                <a:cs typeface="Pretendard" pitchFamily="34" charset="-120"/>
              </a:rPr>
              <a:t>숫자 하나 고치려고 </a:t>
            </a:r>
            <a:r>
              <a:rPr lang="en-US" sz="2200" b="1" dirty="0">
                <a:solidFill>
                  <a:srgbClr val="0AC262"/>
                </a:solidFill>
                <a:latin typeface="Pretendard" pitchFamily="34" charset="0"/>
                <a:ea typeface="Pretendard" pitchFamily="34" charset="-122"/>
                <a:cs typeface="Pretendard" pitchFamily="34" charset="-120"/>
              </a:rPr>
              <a:t>기다릴 필요 없게</a:t>
            </a:r>
            <a:r>
              <a:rPr lang="en-US" sz="2200" b="1" dirty="0">
                <a:solidFill>
                  <a:srgbClr val="FFFFFF"/>
                </a:solidFill>
                <a:latin typeface="Pretendard" pitchFamily="34" charset="0"/>
                <a:ea typeface="Pretendard" pitchFamily="34" charset="-122"/>
                <a:cs typeface="Pretendard" pitchFamily="34" charset="-120"/>
              </a:rPr>
              <a:t> 만들었습니다</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D55C4"/>
        </a:solidFill>
        <a:effectLst/>
      </p:bgPr>
    </p:bg>
    <p:spTree>
      <p:nvGrpSpPr>
        <p:cNvPr id="1" name=""/>
        <p:cNvGrpSpPr/>
        <p:nvPr/>
      </p:nvGrpSpPr>
      <p:grpSpPr>
        <a:xfrm>
          <a:off x="0" y="0"/>
          <a:ext cx="0" cy="0"/>
          <a:chOff x="0" y="0"/>
          <a:chExt cx="0" cy="0"/>
        </a:xfrm>
      </p:grpSpPr>
      <p:sp>
        <p:nvSpPr>
          <p:cNvPr id="2" name="Text 0"/>
          <p:cNvSpPr/>
          <p:nvPr/>
        </p:nvSpPr>
        <p:spPr>
          <a:xfrm>
            <a:off x="812774" y="1867055"/>
            <a:ext cx="10883437" cy="309838"/>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D6EAFF"/>
                </a:solidFill>
                <a:latin typeface="Pretendard" pitchFamily="34" charset="0"/>
                <a:ea typeface="Pretendard" pitchFamily="34" charset="-122"/>
                <a:cs typeface="Pretendard" pitchFamily="34" charset="-120"/>
              </a:rPr>
              <a:t>벤치마킹</a:t>
            </a:r>
            <a:endParaRPr lang="en-US" sz="1600" dirty="0"/>
          </a:p>
        </p:txBody>
      </p:sp>
      <p:sp>
        <p:nvSpPr>
          <p:cNvPr id="3" name="Text 1"/>
          <p:cNvSpPr>
            <a:spLocks noGrp="1"/>
          </p:cNvSpPr>
          <p:nvPr>
            <p:ph type="title"/>
          </p:nvPr>
        </p:nvSpPr>
        <p:spPr>
          <a:xfrm>
            <a:off x="812774" y="2507069"/>
            <a:ext cx="10883437" cy="756875"/>
          </a:xfrm>
          <a:prstGeom prst="rect">
            <a:avLst/>
          </a:prstGeom>
          <a:noFill/>
          <a:ln/>
        </p:spPr>
        <p:txBody>
          <a:bodyPr wrap="square" lIns="0" tIns="0" rIns="0" bIns="0" rtlCol="0" anchor="t">
            <a:normAutofit/>
          </a:bodyPr>
          <a:lstStyle/>
          <a:p>
            <a:pPr marL="0" indent="0" algn="l">
              <a:lnSpc>
                <a:spcPts val="5760"/>
              </a:lnSpc>
              <a:buNone/>
            </a:pPr>
            <a:r>
              <a:rPr lang="en-US" sz="4800" b="1" i="0" dirty="0">
                <a:solidFill>
                  <a:srgbClr val="FFFFFF"/>
                </a:solidFill>
                <a:latin typeface="Pretendard" pitchFamily="34" charset="0"/>
                <a:ea typeface="Pretendard" pitchFamily="34" charset="-122"/>
                <a:cs typeface="Pretendard" pitchFamily="34" charset="-120"/>
              </a:rPr>
              <a:t>쉽게 설계된 툴의 장점만 모았습니다</a:t>
            </a:r>
            <a:endParaRPr lang="en-US" sz="4800" dirty="0"/>
          </a:p>
        </p:txBody>
      </p:sp>
      <p:sp>
        <p:nvSpPr>
          <p:cNvPr id="4" name="Shape 2"/>
          <p:cNvSpPr/>
          <p:nvPr/>
        </p:nvSpPr>
        <p:spPr>
          <a:xfrm>
            <a:off x="812774" y="3594119"/>
            <a:ext cx="5181625" cy="1396813"/>
          </a:xfrm>
          <a:prstGeom prst="roundRect">
            <a:avLst>
              <a:gd name="adj" fmla="val 10911"/>
            </a:avLst>
          </a:prstGeom>
          <a:solidFill>
            <a:srgbClr val="062478"/>
          </a:solidFill>
          <a:ln/>
        </p:spPr>
        <p:txBody>
          <a:bodyPr/>
          <a:lstStyle/>
          <a:p>
            <a:endParaRPr lang="ko-KR" altLang="en-US"/>
          </a:p>
        </p:txBody>
      </p:sp>
      <p:sp>
        <p:nvSpPr>
          <p:cNvPr id="5" name="Text 3"/>
          <p:cNvSpPr/>
          <p:nvPr/>
        </p:nvSpPr>
        <p:spPr>
          <a:xfrm>
            <a:off x="1117537" y="3898881"/>
            <a:ext cx="4709262" cy="452057"/>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FFFFFF"/>
                </a:solidFill>
                <a:latin typeface="Pretendard" pitchFamily="34" charset="0"/>
                <a:ea typeface="Pretendard" pitchFamily="34" charset="-122"/>
                <a:cs typeface="Pretendard" pitchFamily="34" charset="-120"/>
              </a:rPr>
              <a:t>Canva</a:t>
            </a:r>
            <a:endParaRPr lang="en-US" sz="2800" dirty="0"/>
          </a:p>
        </p:txBody>
      </p:sp>
      <p:sp>
        <p:nvSpPr>
          <p:cNvPr id="6" name="Text 4"/>
          <p:cNvSpPr/>
          <p:nvPr/>
        </p:nvSpPr>
        <p:spPr>
          <a:xfrm>
            <a:off x="1117537" y="4401730"/>
            <a:ext cx="4709262" cy="30983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DD3FF"/>
                </a:solidFill>
                <a:latin typeface="Pretendard" pitchFamily="34" charset="0"/>
                <a:ea typeface="Pretendard" pitchFamily="34" charset="-122"/>
                <a:cs typeface="Pretendard" pitchFamily="34" charset="-120"/>
              </a:rPr>
              <a:t>템플릿 + 브랜드 키트</a:t>
            </a:r>
            <a:endParaRPr lang="en-US" sz="1600" dirty="0"/>
          </a:p>
        </p:txBody>
      </p:sp>
      <p:sp>
        <p:nvSpPr>
          <p:cNvPr id="7" name="Shape 5"/>
          <p:cNvSpPr/>
          <p:nvPr/>
        </p:nvSpPr>
        <p:spPr>
          <a:xfrm>
            <a:off x="6197593" y="3594119"/>
            <a:ext cx="5181625" cy="1396813"/>
          </a:xfrm>
          <a:prstGeom prst="roundRect">
            <a:avLst>
              <a:gd name="adj" fmla="val 10911"/>
            </a:avLst>
          </a:prstGeom>
          <a:solidFill>
            <a:srgbClr val="062478"/>
          </a:solidFill>
          <a:ln/>
        </p:spPr>
        <p:txBody>
          <a:bodyPr/>
          <a:lstStyle/>
          <a:p>
            <a:endParaRPr lang="ko-KR" altLang="en-US"/>
          </a:p>
        </p:txBody>
      </p:sp>
      <p:sp>
        <p:nvSpPr>
          <p:cNvPr id="8" name="Text 6"/>
          <p:cNvSpPr/>
          <p:nvPr/>
        </p:nvSpPr>
        <p:spPr>
          <a:xfrm>
            <a:off x="6502356" y="3898881"/>
            <a:ext cx="4709262" cy="452057"/>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FFFFFF"/>
                </a:solidFill>
                <a:latin typeface="Pretendard" pitchFamily="34" charset="0"/>
                <a:ea typeface="Pretendard" pitchFamily="34" charset="-122"/>
                <a:cs typeface="Pretendard" pitchFamily="34" charset="-120"/>
              </a:rPr>
              <a:t>스티비</a:t>
            </a:r>
            <a:endParaRPr lang="en-US" sz="2800" dirty="0"/>
          </a:p>
        </p:txBody>
      </p:sp>
      <p:sp>
        <p:nvSpPr>
          <p:cNvPr id="9" name="Text 7"/>
          <p:cNvSpPr/>
          <p:nvPr/>
        </p:nvSpPr>
        <p:spPr>
          <a:xfrm>
            <a:off x="6502356" y="4401730"/>
            <a:ext cx="4709262" cy="30983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DD3FF"/>
                </a:solidFill>
                <a:latin typeface="Pretendard" pitchFamily="34" charset="0"/>
                <a:ea typeface="Pretendard" pitchFamily="34" charset="-122"/>
                <a:cs typeface="Pretendard" pitchFamily="34" charset="-120"/>
              </a:rPr>
              <a:t>블록 조립형 에디터</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벤치마킹 01</a:t>
            </a:r>
            <a:endParaRPr lang="en-US" sz="1400" dirty="0"/>
          </a:p>
        </p:txBody>
      </p:sp>
      <p:sp>
        <p:nvSpPr>
          <p:cNvPr id="3" name="Text 1"/>
          <p:cNvSpPr>
            <a:spLocks noGrp="1"/>
          </p:cNvSpPr>
          <p:nvPr>
            <p:ph type="title"/>
          </p:nvPr>
        </p:nvSpPr>
        <p:spPr>
          <a:xfrm>
            <a:off x="812774" y="1315622"/>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Canva — 빈 캔버스에 자유롭게 배치한다</a:t>
            </a:r>
            <a:endParaRPr lang="en-US" sz="3600" dirty="0"/>
          </a:p>
        </p:txBody>
      </p:sp>
      <p:sp>
        <p:nvSpPr>
          <p:cNvPr id="4" name="Shape 2"/>
          <p:cNvSpPr/>
          <p:nvPr/>
        </p:nvSpPr>
        <p:spPr>
          <a:xfrm>
            <a:off x="812774" y="2118181"/>
            <a:ext cx="6349974" cy="3927031"/>
          </a:xfrm>
          <a:prstGeom prst="roundRect">
            <a:avLst>
              <a:gd name="adj" fmla="val 3881"/>
            </a:avLst>
          </a:prstGeom>
          <a:solidFill>
            <a:srgbClr val="E8EAEF"/>
          </a:solidFill>
          <a:ln/>
        </p:spPr>
        <p:txBody>
          <a:bodyPr/>
          <a:lstStyle/>
          <a:p>
            <a:endParaRPr lang="ko-KR" altLang="en-US"/>
          </a:p>
        </p:txBody>
      </p:sp>
      <p:pic>
        <p:nvPicPr>
          <p:cNvPr id="5" name="Image 0" descr="Canva 편집 화면: 왼쪽 텍스트·브랜드 키트 패널, 가운데 카드뉴스 페이지"/>
          <p:cNvPicPr>
            <a:picLocks noChangeAspect="1"/>
          </p:cNvPicPr>
          <p:nvPr/>
        </p:nvPicPr>
        <p:blipFill>
          <a:blip r:embed="rId3"/>
          <a:stretch>
            <a:fillRect/>
          </a:stretch>
        </p:blipFill>
        <p:spPr>
          <a:xfrm>
            <a:off x="1276529" y="2270562"/>
            <a:ext cx="5422409" cy="3555968"/>
          </a:xfrm>
          <a:prstGeom prst="rect">
            <a:avLst/>
          </a:prstGeom>
        </p:spPr>
      </p:pic>
      <p:sp>
        <p:nvSpPr>
          <p:cNvPr id="6" name="Text 3"/>
          <p:cNvSpPr/>
          <p:nvPr/>
        </p:nvSpPr>
        <p:spPr>
          <a:xfrm>
            <a:off x="7518323" y="2118181"/>
            <a:ext cx="397672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1552"/>
                </a:solidFill>
                <a:latin typeface="Pretendard" pitchFamily="34" charset="0"/>
                <a:ea typeface="Pretendard" pitchFamily="34" charset="-122"/>
                <a:cs typeface="Pretendard" pitchFamily="34" charset="-120"/>
              </a:rPr>
              <a:t>템플릿</a:t>
            </a:r>
            <a:endParaRPr lang="en-US" sz="1800" dirty="0"/>
          </a:p>
        </p:txBody>
      </p:sp>
      <p:sp>
        <p:nvSpPr>
          <p:cNvPr id="7" name="Text 4"/>
          <p:cNvSpPr/>
          <p:nvPr/>
        </p:nvSpPr>
        <p:spPr>
          <a:xfrm>
            <a:off x="7518323" y="2443268"/>
            <a:ext cx="3976721" cy="292122"/>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빈 화면이 아니라 완성된 틀에서 시작</a:t>
            </a:r>
            <a:endParaRPr lang="en-US" sz="1400" dirty="0"/>
          </a:p>
        </p:txBody>
      </p:sp>
      <p:sp>
        <p:nvSpPr>
          <p:cNvPr id="8" name="Text 5"/>
          <p:cNvSpPr/>
          <p:nvPr/>
        </p:nvSpPr>
        <p:spPr>
          <a:xfrm>
            <a:off x="7518323" y="2887749"/>
            <a:ext cx="397672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1552"/>
                </a:solidFill>
                <a:latin typeface="Pretendard" pitchFamily="34" charset="0"/>
                <a:ea typeface="Pretendard" pitchFamily="34" charset="-122"/>
                <a:cs typeface="Pretendard" pitchFamily="34" charset="-120"/>
              </a:rPr>
              <a:t>브랜드 키트</a:t>
            </a:r>
            <a:endParaRPr lang="en-US" sz="1800" dirty="0"/>
          </a:p>
        </p:txBody>
      </p:sp>
      <p:sp>
        <p:nvSpPr>
          <p:cNvPr id="9" name="Text 6"/>
          <p:cNvSpPr/>
          <p:nvPr/>
        </p:nvSpPr>
        <p:spPr>
          <a:xfrm>
            <a:off x="7518323" y="3212836"/>
            <a:ext cx="3976721" cy="292122"/>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색·글꼴이 고정돼 누가 만들어도 같은 톤</a:t>
            </a:r>
            <a:endParaRPr lang="en-US" sz="1400" dirty="0"/>
          </a:p>
        </p:txBody>
      </p:sp>
      <p:sp>
        <p:nvSpPr>
          <p:cNvPr id="10" name="Text 7"/>
          <p:cNvSpPr/>
          <p:nvPr/>
        </p:nvSpPr>
        <p:spPr>
          <a:xfrm>
            <a:off x="7518323" y="3657321"/>
            <a:ext cx="397672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1552"/>
                </a:solidFill>
                <a:latin typeface="Pretendard" pitchFamily="34" charset="0"/>
                <a:ea typeface="Pretendard" pitchFamily="34" charset="-122"/>
                <a:cs typeface="Pretendard" pitchFamily="34" charset="-120"/>
              </a:rPr>
              <a:t>자유 배치</a:t>
            </a:r>
            <a:endParaRPr lang="en-US" sz="1800" dirty="0"/>
          </a:p>
        </p:txBody>
      </p:sp>
      <p:sp>
        <p:nvSpPr>
          <p:cNvPr id="11" name="Text 8"/>
          <p:cNvSpPr/>
          <p:nvPr/>
        </p:nvSpPr>
        <p:spPr>
          <a:xfrm>
            <a:off x="7518323" y="3982408"/>
            <a:ext cx="3976721" cy="292122"/>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원하는 곳에 놓을 수 있지만, 사람마다 결과가 달라짐</a:t>
            </a:r>
            <a:endParaRPr lang="en-US" sz="1400" dirty="0"/>
          </a:p>
        </p:txBody>
      </p:sp>
      <p:sp>
        <p:nvSpPr>
          <p:cNvPr id="12" name="Text 9"/>
          <p:cNvSpPr/>
          <p:nvPr/>
        </p:nvSpPr>
        <p:spPr>
          <a:xfrm>
            <a:off x="7524673" y="5279002"/>
            <a:ext cx="3848194" cy="759859"/>
          </a:xfrm>
          <a:prstGeom prst="roundRect">
            <a:avLst>
              <a:gd name="adj" fmla="val 12535"/>
            </a:avLst>
          </a:prstGeom>
          <a:solidFill>
            <a:srgbClr val="F5FFF8"/>
          </a:solidFill>
          <a:ln w="12700">
            <a:solidFill>
              <a:srgbClr val="0AC262"/>
            </a:solidFill>
            <a:prstDash val="solid"/>
          </a:ln>
        </p:spPr>
        <p:txBody>
          <a:bodyPr wrap="square" lIns="153986" tIns="103186" rIns="49454" bIns="77786" rtlCol="0" anchor="t">
            <a:normAutofit/>
          </a:bodyPr>
          <a:lstStyle/>
          <a:p>
            <a:pPr marL="0" indent="0" algn="l">
              <a:lnSpc>
                <a:spcPts val="1960"/>
              </a:lnSpc>
              <a:buNone/>
            </a:pPr>
            <a:r>
              <a:rPr lang="en-US" sz="1400" b="1" dirty="0">
                <a:solidFill>
                  <a:srgbClr val="007541"/>
                </a:solidFill>
                <a:latin typeface="Pretendard" pitchFamily="34" charset="0"/>
                <a:ea typeface="Pretendard" pitchFamily="34" charset="-122"/>
                <a:cs typeface="Pretendard" pitchFamily="34" charset="-120"/>
              </a:rPr>
              <a:t>가져온 점: 브랜드 키트처럼 자동으로 적용되는 디자인 시스템</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벤치마킹 02</a:t>
            </a:r>
            <a:endParaRPr lang="en-US" sz="1400" dirty="0"/>
          </a:p>
        </p:txBody>
      </p:sp>
      <p:sp>
        <p:nvSpPr>
          <p:cNvPr id="3" name="Text 1"/>
          <p:cNvSpPr>
            <a:spLocks noGrp="1"/>
          </p:cNvSpPr>
          <p:nvPr>
            <p:ph type="title"/>
          </p:nvPr>
        </p:nvSpPr>
        <p:spPr>
          <a:xfrm>
            <a:off x="812774" y="1315622"/>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스티비 — 정해진 칸을 위에서부터 쌓는다</a:t>
            </a:r>
            <a:endParaRPr lang="en-US" sz="3600" dirty="0"/>
          </a:p>
        </p:txBody>
      </p:sp>
      <p:sp>
        <p:nvSpPr>
          <p:cNvPr id="4" name="Shape 2"/>
          <p:cNvSpPr/>
          <p:nvPr/>
        </p:nvSpPr>
        <p:spPr>
          <a:xfrm>
            <a:off x="812774" y="2118181"/>
            <a:ext cx="6349974" cy="3927031"/>
          </a:xfrm>
          <a:prstGeom prst="roundRect">
            <a:avLst>
              <a:gd name="adj" fmla="val 3881"/>
            </a:avLst>
          </a:prstGeom>
          <a:solidFill>
            <a:srgbClr val="E8EAEF"/>
          </a:solidFill>
          <a:ln/>
        </p:spPr>
        <p:txBody>
          <a:bodyPr/>
          <a:lstStyle/>
          <a:p>
            <a:endParaRPr lang="ko-KR" altLang="en-US"/>
          </a:p>
        </p:txBody>
      </p:sp>
      <p:pic>
        <p:nvPicPr>
          <p:cNvPr id="5" name="Image 0" descr="스티비 이메일 에디터: 가운데 콘텐츠 블록, 오른쪽 레이아웃·구성 요소·배경·여백 설정 패널"/>
          <p:cNvPicPr>
            <a:picLocks noChangeAspect="1"/>
          </p:cNvPicPr>
          <p:nvPr/>
        </p:nvPicPr>
        <p:blipFill>
          <a:blip r:embed="rId3"/>
          <a:stretch>
            <a:fillRect/>
          </a:stretch>
        </p:blipFill>
        <p:spPr>
          <a:xfrm>
            <a:off x="1086064" y="2270562"/>
            <a:ext cx="5803340" cy="3555968"/>
          </a:xfrm>
          <a:prstGeom prst="rect">
            <a:avLst/>
          </a:prstGeom>
        </p:spPr>
      </p:pic>
      <p:sp>
        <p:nvSpPr>
          <p:cNvPr id="6" name="Text 3"/>
          <p:cNvSpPr/>
          <p:nvPr/>
        </p:nvSpPr>
        <p:spPr>
          <a:xfrm>
            <a:off x="7518323" y="2118181"/>
            <a:ext cx="397672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1552"/>
                </a:solidFill>
                <a:latin typeface="Pretendard" pitchFamily="34" charset="0"/>
                <a:ea typeface="Pretendard" pitchFamily="34" charset="-122"/>
                <a:cs typeface="Pretendard" pitchFamily="34" charset="-120"/>
              </a:rPr>
              <a:t>블록 조립</a:t>
            </a:r>
            <a:endParaRPr lang="en-US" sz="1800" dirty="0"/>
          </a:p>
        </p:txBody>
      </p:sp>
      <p:sp>
        <p:nvSpPr>
          <p:cNvPr id="7" name="Text 4"/>
          <p:cNvSpPr/>
          <p:nvPr/>
        </p:nvSpPr>
        <p:spPr>
          <a:xfrm>
            <a:off x="7518323" y="2443268"/>
            <a:ext cx="3976721" cy="292122"/>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텍스트·이미지·버튼을 순서대로 쌓기</a:t>
            </a:r>
            <a:endParaRPr lang="en-US" sz="1400" dirty="0"/>
          </a:p>
        </p:txBody>
      </p:sp>
      <p:sp>
        <p:nvSpPr>
          <p:cNvPr id="8" name="Text 5"/>
          <p:cNvSpPr/>
          <p:nvPr/>
        </p:nvSpPr>
        <p:spPr>
          <a:xfrm>
            <a:off x="7518323" y="2887749"/>
            <a:ext cx="397672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1552"/>
                </a:solidFill>
                <a:latin typeface="Pretendard" pitchFamily="34" charset="0"/>
                <a:ea typeface="Pretendard" pitchFamily="34" charset="-122"/>
                <a:cs typeface="Pretendard" pitchFamily="34" charset="-120"/>
              </a:rPr>
              <a:t>옵션 패널</a:t>
            </a:r>
            <a:endParaRPr lang="en-US" sz="1800" dirty="0"/>
          </a:p>
        </p:txBody>
      </p:sp>
      <p:sp>
        <p:nvSpPr>
          <p:cNvPr id="9" name="Text 6"/>
          <p:cNvSpPr/>
          <p:nvPr/>
        </p:nvSpPr>
        <p:spPr>
          <a:xfrm>
            <a:off x="7518323" y="3212840"/>
            <a:ext cx="3976721" cy="292122"/>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레이아웃·배경·여백을 고르기만</a:t>
            </a:r>
            <a:endParaRPr lang="en-US" sz="1400" dirty="0"/>
          </a:p>
        </p:txBody>
      </p:sp>
      <p:sp>
        <p:nvSpPr>
          <p:cNvPr id="10" name="Text 7"/>
          <p:cNvSpPr/>
          <p:nvPr/>
        </p:nvSpPr>
        <p:spPr>
          <a:xfrm>
            <a:off x="7518323" y="3657321"/>
            <a:ext cx="397672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1552"/>
                </a:solidFill>
                <a:latin typeface="Pretendard" pitchFamily="34" charset="0"/>
                <a:ea typeface="Pretendard" pitchFamily="34" charset="-122"/>
                <a:cs typeface="Pretendard" pitchFamily="34" charset="-120"/>
              </a:rPr>
              <a:t>깨지지 않는 레이아웃</a:t>
            </a:r>
            <a:endParaRPr lang="en-US" sz="1800" dirty="0"/>
          </a:p>
        </p:txBody>
      </p:sp>
      <p:sp>
        <p:nvSpPr>
          <p:cNvPr id="11" name="Text 8"/>
          <p:cNvSpPr/>
          <p:nvPr/>
        </p:nvSpPr>
        <p:spPr>
          <a:xfrm>
            <a:off x="7518323" y="3982408"/>
            <a:ext cx="3976721" cy="292122"/>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칸이 정해져 있어 PC·모바일에 자동으로 맞춤</a:t>
            </a:r>
            <a:endParaRPr lang="en-US" sz="1400" dirty="0"/>
          </a:p>
        </p:txBody>
      </p:sp>
      <p:sp>
        <p:nvSpPr>
          <p:cNvPr id="12" name="Text 9"/>
          <p:cNvSpPr/>
          <p:nvPr/>
        </p:nvSpPr>
        <p:spPr>
          <a:xfrm>
            <a:off x="7524673" y="5279002"/>
            <a:ext cx="3848194" cy="759859"/>
          </a:xfrm>
          <a:prstGeom prst="roundRect">
            <a:avLst>
              <a:gd name="adj" fmla="val 12535"/>
            </a:avLst>
          </a:prstGeom>
          <a:solidFill>
            <a:srgbClr val="F5FFF8"/>
          </a:solidFill>
          <a:ln w="12700">
            <a:solidFill>
              <a:srgbClr val="0AC262"/>
            </a:solidFill>
            <a:prstDash val="solid"/>
          </a:ln>
        </p:spPr>
        <p:txBody>
          <a:bodyPr wrap="square" lIns="153986" tIns="103186" rIns="49454" bIns="77786" rtlCol="0" anchor="t">
            <a:normAutofit/>
          </a:bodyPr>
          <a:lstStyle/>
          <a:p>
            <a:pPr marL="0" indent="0" algn="l">
              <a:lnSpc>
                <a:spcPts val="1960"/>
              </a:lnSpc>
              <a:buNone/>
            </a:pPr>
            <a:r>
              <a:rPr lang="en-US" sz="1400" b="1" dirty="0">
                <a:solidFill>
                  <a:srgbClr val="007541"/>
                </a:solidFill>
                <a:latin typeface="Pretendard" pitchFamily="34" charset="0"/>
                <a:ea typeface="Pretendard" pitchFamily="34" charset="-122"/>
                <a:cs typeface="Pretendard" pitchFamily="34" charset="-120"/>
              </a:rPr>
              <a:t>가져온 점: 표·차트·리스트를 레고처럼 골라 끼우고, 고칠 때는 그 칸만 바꾼다</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그래서 만든 것</a:t>
            </a:r>
            <a:endParaRPr lang="en-US" sz="1400" dirty="0"/>
          </a:p>
        </p:txBody>
      </p:sp>
      <p:sp>
        <p:nvSpPr>
          <p:cNvPr id="3" name="Text 1"/>
          <p:cNvSpPr>
            <a:spLocks noGrp="1"/>
          </p:cNvSpPr>
          <p:nvPr>
            <p:ph type="title"/>
          </p:nvPr>
        </p:nvSpPr>
        <p:spPr>
          <a:xfrm>
            <a:off x="812774" y="1366434"/>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두 툴의 장점 + 뉴스레터 전용 기능</a:t>
            </a:r>
            <a:endParaRPr lang="en-US" sz="3600" dirty="0"/>
          </a:p>
        </p:txBody>
      </p:sp>
      <p:sp>
        <p:nvSpPr>
          <p:cNvPr id="4" name="Shape 2"/>
          <p:cNvSpPr/>
          <p:nvPr/>
        </p:nvSpPr>
        <p:spPr>
          <a:xfrm>
            <a:off x="819124" y="2226156"/>
            <a:ext cx="3110035" cy="3812708"/>
          </a:xfrm>
          <a:prstGeom prst="roundRect">
            <a:avLst>
              <a:gd name="adj" fmla="val 4696"/>
            </a:avLst>
          </a:prstGeom>
          <a:solidFill>
            <a:srgbClr val="FFFFFF"/>
          </a:solidFill>
          <a:ln w="12700">
            <a:solidFill>
              <a:srgbClr val="D6EAFF"/>
            </a:solidFill>
            <a:prstDash val="solid"/>
          </a:ln>
        </p:spPr>
        <p:txBody>
          <a:bodyPr/>
          <a:lstStyle/>
          <a:p>
            <a:endParaRPr lang="ko-KR" altLang="en-US"/>
          </a:p>
        </p:txBody>
      </p:sp>
      <p:sp>
        <p:nvSpPr>
          <p:cNvPr id="5" name="Text 3"/>
          <p:cNvSpPr/>
          <p:nvPr/>
        </p:nvSpPr>
        <p:spPr>
          <a:xfrm>
            <a:off x="1102592" y="2509624"/>
            <a:ext cx="2619391" cy="2565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74EB"/>
                </a:solidFill>
                <a:latin typeface="Pretendard" pitchFamily="34" charset="0"/>
                <a:ea typeface="Pretendard" pitchFamily="34" charset="-122"/>
                <a:cs typeface="Pretendard" pitchFamily="34" charset="-120"/>
              </a:rPr>
              <a:t>Canva에서</a:t>
            </a:r>
            <a:endParaRPr lang="en-US" sz="1300" dirty="0"/>
          </a:p>
        </p:txBody>
      </p:sp>
      <p:sp>
        <p:nvSpPr>
          <p:cNvPr id="6" name="Text 4"/>
          <p:cNvSpPr/>
          <p:nvPr/>
        </p:nvSpPr>
        <p:spPr>
          <a:xfrm>
            <a:off x="1102592" y="2867698"/>
            <a:ext cx="2619391" cy="355596"/>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31552"/>
                </a:solidFill>
                <a:latin typeface="Pretendard" pitchFamily="34" charset="0"/>
                <a:ea typeface="Pretendard" pitchFamily="34" charset="-122"/>
                <a:cs typeface="Pretendard" pitchFamily="34" charset="-120"/>
              </a:rPr>
              <a:t>디자인 시스템 자동 적용</a:t>
            </a:r>
            <a:endParaRPr lang="en-US" sz="2000" dirty="0"/>
          </a:p>
        </p:txBody>
      </p:sp>
      <p:sp>
        <p:nvSpPr>
          <p:cNvPr id="7" name="Text 5"/>
          <p:cNvSpPr/>
          <p:nvPr/>
        </p:nvSpPr>
        <p:spPr>
          <a:xfrm>
            <a:off x="1102592" y="3324842"/>
            <a:ext cx="2619391"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색·글꼴·타이틀 크기를 따로 고를 필요 없음</a:t>
            </a:r>
            <a:endParaRPr lang="en-US" sz="1400" dirty="0"/>
          </a:p>
        </p:txBody>
      </p:sp>
      <p:pic>
        <p:nvPicPr>
          <p:cNvPr id="8" name="Image 0" descr="arrow-right"/>
          <p:cNvPicPr>
            <a:picLocks noChangeAspect="1"/>
          </p:cNvPicPr>
          <p:nvPr/>
        </p:nvPicPr>
        <p:blipFill>
          <a:blip r:embed="rId3"/>
          <a:srcRect/>
          <a:stretch/>
        </p:blipFill>
        <p:spPr>
          <a:xfrm>
            <a:off x="4087891" y="4056317"/>
            <a:ext cx="304763" cy="152382"/>
          </a:xfrm>
          <a:prstGeom prst="rect">
            <a:avLst/>
          </a:prstGeom>
        </p:spPr>
      </p:pic>
      <p:sp>
        <p:nvSpPr>
          <p:cNvPr id="9" name="Shape 6"/>
          <p:cNvSpPr/>
          <p:nvPr/>
        </p:nvSpPr>
        <p:spPr>
          <a:xfrm>
            <a:off x="4551385" y="2226156"/>
            <a:ext cx="3110089" cy="3812708"/>
          </a:xfrm>
          <a:prstGeom prst="roundRect">
            <a:avLst>
              <a:gd name="adj" fmla="val 4696"/>
            </a:avLst>
          </a:prstGeom>
          <a:solidFill>
            <a:srgbClr val="FFFFFF"/>
          </a:solidFill>
          <a:ln w="12700">
            <a:solidFill>
              <a:srgbClr val="D6EAFF"/>
            </a:solidFill>
            <a:prstDash val="solid"/>
          </a:ln>
        </p:spPr>
        <p:txBody>
          <a:bodyPr/>
          <a:lstStyle/>
          <a:p>
            <a:endParaRPr lang="ko-KR" altLang="en-US"/>
          </a:p>
        </p:txBody>
      </p:sp>
      <p:sp>
        <p:nvSpPr>
          <p:cNvPr id="10" name="Text 7"/>
          <p:cNvSpPr/>
          <p:nvPr/>
        </p:nvSpPr>
        <p:spPr>
          <a:xfrm>
            <a:off x="4834854" y="2509624"/>
            <a:ext cx="2619447" cy="2565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74EB"/>
                </a:solidFill>
                <a:latin typeface="Pretendard" pitchFamily="34" charset="0"/>
                <a:ea typeface="Pretendard" pitchFamily="34" charset="-122"/>
                <a:cs typeface="Pretendard" pitchFamily="34" charset="-120"/>
              </a:rPr>
              <a:t>스티비에서</a:t>
            </a:r>
            <a:endParaRPr lang="en-US" sz="1300" dirty="0"/>
          </a:p>
        </p:txBody>
      </p:sp>
      <p:sp>
        <p:nvSpPr>
          <p:cNvPr id="11" name="Text 8"/>
          <p:cNvSpPr/>
          <p:nvPr/>
        </p:nvSpPr>
        <p:spPr>
          <a:xfrm>
            <a:off x="4834854" y="2867698"/>
            <a:ext cx="2619447" cy="355596"/>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31552"/>
                </a:solidFill>
                <a:latin typeface="Pretendard" pitchFamily="34" charset="0"/>
                <a:ea typeface="Pretendard" pitchFamily="34" charset="-122"/>
                <a:cs typeface="Pretendard" pitchFamily="34" charset="-120"/>
              </a:rPr>
              <a:t>정해진 칸에 끼우기</a:t>
            </a:r>
            <a:endParaRPr lang="en-US" sz="2000" dirty="0"/>
          </a:p>
        </p:txBody>
      </p:sp>
      <p:sp>
        <p:nvSpPr>
          <p:cNvPr id="12" name="Text 9"/>
          <p:cNvSpPr/>
          <p:nvPr/>
        </p:nvSpPr>
        <p:spPr>
          <a:xfrm>
            <a:off x="4834854" y="3324842"/>
            <a:ext cx="2619447" cy="825566"/>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리스트·순위·표·차트 칸을 골라 끼워, 누가 만들어도 디자인이 흐트러지지 않음</a:t>
            </a:r>
            <a:endParaRPr lang="en-US" sz="1400" dirty="0"/>
          </a:p>
        </p:txBody>
      </p:sp>
      <p:pic>
        <p:nvPicPr>
          <p:cNvPr id="13" name="Image 1" descr="arrow-right"/>
          <p:cNvPicPr>
            <a:picLocks noChangeAspect="1"/>
          </p:cNvPicPr>
          <p:nvPr/>
        </p:nvPicPr>
        <p:blipFill>
          <a:blip r:embed="rId3"/>
          <a:srcRect/>
          <a:stretch/>
        </p:blipFill>
        <p:spPr>
          <a:xfrm>
            <a:off x="7820206" y="4056317"/>
            <a:ext cx="304763" cy="152382"/>
          </a:xfrm>
          <a:prstGeom prst="rect">
            <a:avLst/>
          </a:prstGeom>
        </p:spPr>
      </p:pic>
      <p:sp>
        <p:nvSpPr>
          <p:cNvPr id="14" name="Shape 10"/>
          <p:cNvSpPr/>
          <p:nvPr/>
        </p:nvSpPr>
        <p:spPr>
          <a:xfrm>
            <a:off x="8277351" y="2219806"/>
            <a:ext cx="3101867" cy="3825408"/>
          </a:xfrm>
          <a:prstGeom prst="roundRect">
            <a:avLst>
              <a:gd name="adj" fmla="val 4913"/>
            </a:avLst>
          </a:prstGeom>
          <a:solidFill>
            <a:srgbClr val="031552"/>
          </a:solidFill>
          <a:ln/>
        </p:spPr>
        <p:txBody>
          <a:bodyPr/>
          <a:lstStyle/>
          <a:p>
            <a:endParaRPr lang="ko-KR" altLang="en-US"/>
          </a:p>
        </p:txBody>
      </p:sp>
      <p:sp>
        <p:nvSpPr>
          <p:cNvPr id="15" name="Text 11"/>
          <p:cNvSpPr/>
          <p:nvPr/>
        </p:nvSpPr>
        <p:spPr>
          <a:xfrm>
            <a:off x="8556735" y="2499190"/>
            <a:ext cx="2619391" cy="2565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C262"/>
                </a:solidFill>
                <a:latin typeface="Pretendard" pitchFamily="34" charset="0"/>
                <a:ea typeface="Pretendard" pitchFamily="34" charset="-122"/>
                <a:cs typeface="Pretendard" pitchFamily="34" charset="-120"/>
              </a:rPr>
              <a:t>우리만의 것</a:t>
            </a:r>
            <a:endParaRPr lang="en-US" sz="1300" dirty="0"/>
          </a:p>
        </p:txBody>
      </p:sp>
      <p:sp>
        <p:nvSpPr>
          <p:cNvPr id="16" name="Text 12"/>
          <p:cNvSpPr/>
          <p:nvPr/>
        </p:nvSpPr>
        <p:spPr>
          <a:xfrm>
            <a:off x="8556735" y="2857264"/>
            <a:ext cx="2619391" cy="685793"/>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FFFFFF"/>
                </a:solidFill>
                <a:latin typeface="Pretendard" pitchFamily="34" charset="0"/>
                <a:ea typeface="Pretendard" pitchFamily="34" charset="-122"/>
                <a:cs typeface="Pretendard" pitchFamily="34" charset="-120"/>
              </a:rPr>
              <a:t>기획안만 넣으면 초안 완성</a:t>
            </a:r>
            <a:endParaRPr lang="en-US" sz="2000" dirty="0"/>
          </a:p>
        </p:txBody>
      </p:sp>
      <p:sp>
        <p:nvSpPr>
          <p:cNvPr id="17" name="Text 13"/>
          <p:cNvSpPr/>
          <p:nvPr/>
        </p:nvSpPr>
        <p:spPr>
          <a:xfrm>
            <a:off x="8556735" y="3644605"/>
            <a:ext cx="2619391" cy="825566"/>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ADD3FF"/>
                </a:solidFill>
                <a:latin typeface="Pretendard" pitchFamily="34" charset="0"/>
                <a:ea typeface="Pretendard" pitchFamily="34" charset="-122"/>
                <a:cs typeface="Pretendard" pitchFamily="34" charset="-120"/>
              </a:rPr>
              <a:t>Claude가 기획안을 읽어 뉴스레터 콘텐츠 이미지·PDF를 만들고, 숫자·문구는 바로 수정</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2"/>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운영자에게 좋은 점</a:t>
            </a:r>
            <a:endParaRPr lang="en-US" sz="1400" dirty="0"/>
          </a:p>
        </p:txBody>
      </p:sp>
      <p:sp>
        <p:nvSpPr>
          <p:cNvPr id="3" name="Text 1"/>
          <p:cNvSpPr>
            <a:spLocks noGrp="1"/>
          </p:cNvSpPr>
          <p:nvPr>
            <p:ph type="title"/>
          </p:nvPr>
        </p:nvSpPr>
        <p:spPr>
          <a:xfrm>
            <a:off x="812774" y="1366434"/>
            <a:ext cx="10883437" cy="1122612"/>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원하는 결과물을 쉽게 만들고,</a:t>
            </a:r>
            <a:endParaRPr lang="en-US" sz="3600" dirty="0"/>
          </a:p>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수정도 편하게</a:t>
            </a:r>
            <a:endParaRPr lang="en-US" sz="3600" dirty="0"/>
          </a:p>
        </p:txBody>
      </p:sp>
      <p:sp>
        <p:nvSpPr>
          <p:cNvPr id="4" name="Shape 2"/>
          <p:cNvSpPr/>
          <p:nvPr/>
        </p:nvSpPr>
        <p:spPr>
          <a:xfrm>
            <a:off x="819124" y="2774758"/>
            <a:ext cx="3380942" cy="3264101"/>
          </a:xfrm>
          <a:prstGeom prst="roundRect">
            <a:avLst>
              <a:gd name="adj" fmla="val 4474"/>
            </a:avLst>
          </a:prstGeom>
          <a:solidFill>
            <a:srgbClr val="FFFFFF"/>
          </a:solidFill>
          <a:ln w="12700">
            <a:solidFill>
              <a:srgbClr val="D6EAFF"/>
            </a:solidFill>
            <a:prstDash val="solid"/>
          </a:ln>
        </p:spPr>
        <p:txBody>
          <a:bodyPr/>
          <a:lstStyle/>
          <a:p>
            <a:endParaRPr lang="ko-KR" altLang="en-US"/>
          </a:p>
        </p:txBody>
      </p:sp>
      <p:pic>
        <p:nvPicPr>
          <p:cNvPr id="5" name="Image 0" descr="Book"/>
          <p:cNvPicPr>
            <a:picLocks noChangeAspect="1"/>
          </p:cNvPicPr>
          <p:nvPr/>
        </p:nvPicPr>
        <p:blipFill>
          <a:blip r:embed="rId3"/>
          <a:srcRect/>
          <a:stretch/>
        </p:blipFill>
        <p:spPr>
          <a:xfrm>
            <a:off x="1127971" y="3083607"/>
            <a:ext cx="355575" cy="355575"/>
          </a:xfrm>
          <a:prstGeom prst="rect">
            <a:avLst/>
          </a:prstGeom>
        </p:spPr>
      </p:pic>
      <p:sp>
        <p:nvSpPr>
          <p:cNvPr id="6" name="Text 3"/>
          <p:cNvSpPr/>
          <p:nvPr/>
        </p:nvSpPr>
        <p:spPr>
          <a:xfrm>
            <a:off x="1127971" y="3566130"/>
            <a:ext cx="2846145" cy="355596"/>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31552"/>
                </a:solidFill>
                <a:latin typeface="Pretendard" pitchFamily="34" charset="0"/>
                <a:ea typeface="Pretendard" pitchFamily="34" charset="-122"/>
                <a:cs typeface="Pretendard" pitchFamily="34" charset="-120"/>
              </a:rPr>
              <a:t>쉽게 만들기</a:t>
            </a:r>
            <a:endParaRPr lang="en-US" sz="2000" dirty="0"/>
          </a:p>
        </p:txBody>
      </p:sp>
      <p:sp>
        <p:nvSpPr>
          <p:cNvPr id="7" name="Text 4"/>
          <p:cNvSpPr/>
          <p:nvPr/>
        </p:nvSpPr>
        <p:spPr>
          <a:xfrm>
            <a:off x="1127971" y="4023274"/>
            <a:ext cx="2846145"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쓰던 기획안(PDF·PPT·엑셀·캡처)을 그대로 올리면 초안 완성</a:t>
            </a:r>
            <a:endParaRPr lang="en-US" sz="1400" dirty="0"/>
          </a:p>
        </p:txBody>
      </p:sp>
      <p:sp>
        <p:nvSpPr>
          <p:cNvPr id="8" name="Shape 5"/>
          <p:cNvSpPr/>
          <p:nvPr/>
        </p:nvSpPr>
        <p:spPr>
          <a:xfrm>
            <a:off x="4415959" y="2774758"/>
            <a:ext cx="3380942" cy="3264101"/>
          </a:xfrm>
          <a:prstGeom prst="roundRect">
            <a:avLst>
              <a:gd name="adj" fmla="val 4474"/>
            </a:avLst>
          </a:prstGeom>
          <a:solidFill>
            <a:srgbClr val="FFFFFF"/>
          </a:solidFill>
          <a:ln w="12700">
            <a:solidFill>
              <a:srgbClr val="D6EAFF"/>
            </a:solidFill>
            <a:prstDash val="solid"/>
          </a:ln>
        </p:spPr>
        <p:txBody>
          <a:bodyPr/>
          <a:lstStyle/>
          <a:p>
            <a:endParaRPr lang="ko-KR" altLang="en-US"/>
          </a:p>
        </p:txBody>
      </p:sp>
      <p:pic>
        <p:nvPicPr>
          <p:cNvPr id="9" name="Image 1" descr="Lightning"/>
          <p:cNvPicPr>
            <a:picLocks noChangeAspect="1"/>
          </p:cNvPicPr>
          <p:nvPr/>
        </p:nvPicPr>
        <p:blipFill>
          <a:blip r:embed="rId4"/>
          <a:srcRect/>
          <a:stretch/>
        </p:blipFill>
        <p:spPr>
          <a:xfrm>
            <a:off x="4724807" y="3083607"/>
            <a:ext cx="355575" cy="355575"/>
          </a:xfrm>
          <a:prstGeom prst="rect">
            <a:avLst/>
          </a:prstGeom>
        </p:spPr>
      </p:pic>
      <p:sp>
        <p:nvSpPr>
          <p:cNvPr id="10" name="Text 6"/>
          <p:cNvSpPr/>
          <p:nvPr/>
        </p:nvSpPr>
        <p:spPr>
          <a:xfrm>
            <a:off x="4724807" y="3566130"/>
            <a:ext cx="2846145" cy="355596"/>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31552"/>
                </a:solidFill>
                <a:latin typeface="Pretendard" pitchFamily="34" charset="0"/>
                <a:ea typeface="Pretendard" pitchFamily="34" charset="-122"/>
                <a:cs typeface="Pretendard" pitchFamily="34" charset="-120"/>
              </a:rPr>
              <a:t>수정도 편하게</a:t>
            </a:r>
            <a:endParaRPr lang="en-US" sz="2000" dirty="0"/>
          </a:p>
        </p:txBody>
      </p:sp>
      <p:sp>
        <p:nvSpPr>
          <p:cNvPr id="11" name="Text 7"/>
          <p:cNvSpPr/>
          <p:nvPr/>
        </p:nvSpPr>
        <p:spPr>
          <a:xfrm>
            <a:off x="4724807" y="4023274"/>
            <a:ext cx="2846145"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오탈자·숫자는 미리보기에서 바로 고치고, 기다릴 필요 없음</a:t>
            </a:r>
            <a:endParaRPr lang="en-US" sz="1400" dirty="0"/>
          </a:p>
        </p:txBody>
      </p:sp>
      <p:sp>
        <p:nvSpPr>
          <p:cNvPr id="12" name="Shape 8"/>
          <p:cNvSpPr/>
          <p:nvPr/>
        </p:nvSpPr>
        <p:spPr>
          <a:xfrm>
            <a:off x="8006445" y="2768408"/>
            <a:ext cx="3372773" cy="3276801"/>
          </a:xfrm>
          <a:prstGeom prst="roundRect">
            <a:avLst>
              <a:gd name="adj" fmla="val 4651"/>
            </a:avLst>
          </a:prstGeom>
          <a:solidFill>
            <a:srgbClr val="031552"/>
          </a:solidFill>
          <a:ln/>
        </p:spPr>
        <p:txBody>
          <a:bodyPr/>
          <a:lstStyle/>
          <a:p>
            <a:endParaRPr lang="ko-KR" altLang="en-US"/>
          </a:p>
        </p:txBody>
      </p:sp>
      <p:sp>
        <p:nvSpPr>
          <p:cNvPr id="13" name="Text 9"/>
          <p:cNvSpPr/>
          <p:nvPr/>
        </p:nvSpPr>
        <p:spPr>
          <a:xfrm>
            <a:off x="8311207" y="3073171"/>
            <a:ext cx="982600" cy="332642"/>
          </a:xfrm>
          <a:prstGeom prst="roundRect">
            <a:avLst>
              <a:gd name="adj" fmla="val 50000"/>
            </a:avLst>
          </a:prstGeom>
          <a:solidFill>
            <a:srgbClr val="0AC262"/>
          </a:solidFill>
          <a:ln/>
        </p:spPr>
        <p:txBody>
          <a:bodyPr wrap="none" lIns="0" tIns="0" rIns="0" bIns="0" rtlCol="0" anchor="ctr">
            <a:normAutofit/>
          </a:bodyPr>
          <a:lstStyle/>
          <a:p>
            <a:pPr marL="0" indent="0" algn="ctr">
              <a:lnSpc>
                <a:spcPts val="1820"/>
              </a:lnSpc>
              <a:buNone/>
            </a:pPr>
            <a:r>
              <a:rPr lang="en-US" sz="1300" b="1" dirty="0">
                <a:solidFill>
                  <a:srgbClr val="031552"/>
                </a:solidFill>
                <a:latin typeface="Pretendard" pitchFamily="34" charset="0"/>
                <a:ea typeface="Pretendard" pitchFamily="34" charset="-122"/>
                <a:cs typeface="Pretendard" pitchFamily="34" charset="-120"/>
              </a:rPr>
              <a:t>PDF NEW</a:t>
            </a:r>
            <a:endParaRPr lang="en-US" sz="1300" dirty="0"/>
          </a:p>
        </p:txBody>
      </p:sp>
      <p:sp>
        <p:nvSpPr>
          <p:cNvPr id="14" name="Text 10"/>
          <p:cNvSpPr/>
          <p:nvPr/>
        </p:nvSpPr>
        <p:spPr>
          <a:xfrm>
            <a:off x="8311207" y="3532761"/>
            <a:ext cx="2846145" cy="355596"/>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FFFFFF"/>
                </a:solidFill>
                <a:latin typeface="Pretendard" pitchFamily="34" charset="0"/>
                <a:ea typeface="Pretendard" pitchFamily="34" charset="-122"/>
                <a:cs typeface="Pretendard" pitchFamily="34" charset="-120"/>
              </a:rPr>
              <a:t>원하는 결과물 모두</a:t>
            </a:r>
            <a:endParaRPr lang="en-US" sz="2000" dirty="0"/>
          </a:p>
        </p:txBody>
      </p:sp>
      <p:sp>
        <p:nvSpPr>
          <p:cNvPr id="15" name="Text 11"/>
          <p:cNvSpPr/>
          <p:nvPr/>
        </p:nvSpPr>
        <p:spPr>
          <a:xfrm>
            <a:off x="8311207" y="3989905"/>
            <a:ext cx="2846145"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ADD3FF"/>
                </a:solidFill>
                <a:latin typeface="Pretendard" pitchFamily="34" charset="0"/>
                <a:ea typeface="Pretendard" pitchFamily="34" charset="-122"/>
                <a:cs typeface="Pretendard" pitchFamily="34" charset="-120"/>
              </a:rPr>
              <a:t>썸네일·콘텐츠 이미지에, 전에는 못 만들던 리드마그넷 PDF까지</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한눈에 보기</a:t>
            </a:r>
            <a:endParaRPr lang="en-US" sz="1400" dirty="0"/>
          </a:p>
        </p:txBody>
      </p:sp>
      <p:sp>
        <p:nvSpPr>
          <p:cNvPr id="3" name="Text 1"/>
          <p:cNvSpPr>
            <a:spLocks noGrp="1"/>
          </p:cNvSpPr>
          <p:nvPr>
            <p:ph type="title"/>
          </p:nvPr>
        </p:nvSpPr>
        <p:spPr>
          <a:xfrm>
            <a:off x="812774" y="1315622"/>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우리 툴의 장점</a:t>
            </a:r>
            <a:endParaRPr lang="en-US" sz="3600" dirty="0"/>
          </a:p>
        </p:txBody>
      </p:sp>
      <p:sp>
        <p:nvSpPr>
          <p:cNvPr id="4" name="Shape 2"/>
          <p:cNvSpPr/>
          <p:nvPr/>
        </p:nvSpPr>
        <p:spPr>
          <a:xfrm>
            <a:off x="812774" y="2118178"/>
            <a:ext cx="3420542" cy="1887325"/>
          </a:xfrm>
          <a:prstGeom prst="roundRect">
            <a:avLst>
              <a:gd name="adj" fmla="val 8075"/>
            </a:avLst>
          </a:prstGeom>
          <a:solidFill>
            <a:srgbClr val="031552"/>
          </a:solidFill>
          <a:ln/>
        </p:spPr>
        <p:txBody>
          <a:bodyPr/>
          <a:lstStyle/>
          <a:p>
            <a:endParaRPr lang="ko-KR" altLang="en-US"/>
          </a:p>
        </p:txBody>
      </p:sp>
      <p:pic>
        <p:nvPicPr>
          <p:cNvPr id="5" name="Image 0" descr="Star"/>
          <p:cNvPicPr>
            <a:picLocks noChangeAspect="1"/>
          </p:cNvPicPr>
          <p:nvPr/>
        </p:nvPicPr>
        <p:blipFill>
          <a:blip r:embed="rId3"/>
          <a:srcRect/>
          <a:stretch/>
        </p:blipFill>
        <p:spPr>
          <a:xfrm>
            <a:off x="1041346" y="2346753"/>
            <a:ext cx="304763" cy="304763"/>
          </a:xfrm>
          <a:prstGeom prst="rect">
            <a:avLst/>
          </a:prstGeom>
        </p:spPr>
      </p:pic>
      <p:sp>
        <p:nvSpPr>
          <p:cNvPr id="6" name="Text 3"/>
          <p:cNvSpPr/>
          <p:nvPr/>
        </p:nvSpPr>
        <p:spPr>
          <a:xfrm>
            <a:off x="1041346" y="2727703"/>
            <a:ext cx="3052299" cy="322609"/>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FFFFF"/>
                </a:solidFill>
                <a:latin typeface="Pretendard" pitchFamily="34" charset="0"/>
                <a:ea typeface="Pretendard" pitchFamily="34" charset="-122"/>
                <a:cs typeface="Pretendard" pitchFamily="34" charset="-120"/>
              </a:rPr>
              <a:t>디자인 시스템 자동 적용</a:t>
            </a:r>
            <a:endParaRPr lang="en-US" sz="1800" dirty="0"/>
          </a:p>
        </p:txBody>
      </p:sp>
      <p:sp>
        <p:nvSpPr>
          <p:cNvPr id="7" name="Text 4"/>
          <p:cNvSpPr/>
          <p:nvPr/>
        </p:nvSpPr>
        <p:spPr>
          <a:xfrm>
            <a:off x="1041346" y="3101107"/>
            <a:ext cx="3052299" cy="273047"/>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ADD3FF"/>
                </a:solidFill>
                <a:latin typeface="Pretendard" pitchFamily="34" charset="0"/>
                <a:ea typeface="Pretendard" pitchFamily="34" charset="-122"/>
                <a:cs typeface="Pretendard" pitchFamily="34" charset="-120"/>
              </a:rPr>
              <a:t>색·글꼴·타이틀 크기를 따로 고를 필요 없음</a:t>
            </a:r>
            <a:endParaRPr lang="en-US" sz="1300" dirty="0"/>
          </a:p>
        </p:txBody>
      </p:sp>
      <p:sp>
        <p:nvSpPr>
          <p:cNvPr id="8" name="Shape 5"/>
          <p:cNvSpPr/>
          <p:nvPr/>
        </p:nvSpPr>
        <p:spPr>
          <a:xfrm>
            <a:off x="4385698" y="2118178"/>
            <a:ext cx="3420542" cy="1887325"/>
          </a:xfrm>
          <a:prstGeom prst="roundRect">
            <a:avLst>
              <a:gd name="adj" fmla="val 8075"/>
            </a:avLst>
          </a:prstGeom>
          <a:solidFill>
            <a:srgbClr val="031552"/>
          </a:solidFill>
          <a:ln/>
        </p:spPr>
        <p:txBody>
          <a:bodyPr/>
          <a:lstStyle/>
          <a:p>
            <a:endParaRPr lang="ko-KR" altLang="en-US"/>
          </a:p>
        </p:txBody>
      </p:sp>
      <p:pic>
        <p:nvPicPr>
          <p:cNvPr id="9" name="Image 1" descr="Users"/>
          <p:cNvPicPr>
            <a:picLocks noChangeAspect="1"/>
          </p:cNvPicPr>
          <p:nvPr/>
        </p:nvPicPr>
        <p:blipFill>
          <a:blip r:embed="rId4"/>
          <a:srcRect/>
          <a:stretch/>
        </p:blipFill>
        <p:spPr>
          <a:xfrm>
            <a:off x="4614270" y="2346753"/>
            <a:ext cx="304763" cy="304763"/>
          </a:xfrm>
          <a:prstGeom prst="rect">
            <a:avLst/>
          </a:prstGeom>
        </p:spPr>
      </p:pic>
      <p:sp>
        <p:nvSpPr>
          <p:cNvPr id="10" name="Text 6"/>
          <p:cNvSpPr/>
          <p:nvPr/>
        </p:nvSpPr>
        <p:spPr>
          <a:xfrm>
            <a:off x="4614270" y="2727703"/>
            <a:ext cx="3052299" cy="322609"/>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FFFFF"/>
                </a:solidFill>
                <a:latin typeface="Pretendard" pitchFamily="34" charset="0"/>
                <a:ea typeface="Pretendard" pitchFamily="34" charset="-122"/>
                <a:cs typeface="Pretendard" pitchFamily="34" charset="-120"/>
              </a:rPr>
              <a:t>웹 접근성(WCAG) 기준 반영</a:t>
            </a:r>
            <a:endParaRPr lang="en-US" sz="1800" dirty="0"/>
          </a:p>
        </p:txBody>
      </p:sp>
      <p:sp>
        <p:nvSpPr>
          <p:cNvPr id="11" name="Text 7"/>
          <p:cNvSpPr/>
          <p:nvPr/>
        </p:nvSpPr>
        <p:spPr>
          <a:xfrm>
            <a:off x="4614270" y="3101107"/>
            <a:ext cx="3052299" cy="520694"/>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ADD3FF"/>
                </a:solidFill>
                <a:latin typeface="Pretendard" pitchFamily="34" charset="0"/>
                <a:ea typeface="Pretendard" pitchFamily="34" charset="-122"/>
                <a:cs typeface="Pretendard" pitchFamily="34" charset="-120"/>
              </a:rPr>
              <a:t>누구나 읽기 쉽게, 글자·배경 대비와 글자 크기를 기준에 맞춰 적용</a:t>
            </a:r>
            <a:endParaRPr lang="en-US" sz="1300" dirty="0"/>
          </a:p>
        </p:txBody>
      </p:sp>
      <p:sp>
        <p:nvSpPr>
          <p:cNvPr id="12" name="Shape 8"/>
          <p:cNvSpPr/>
          <p:nvPr/>
        </p:nvSpPr>
        <p:spPr>
          <a:xfrm>
            <a:off x="7964971" y="2124528"/>
            <a:ext cx="3407842" cy="1874625"/>
          </a:xfrm>
          <a:prstGeom prst="roundRect">
            <a:avLst>
              <a:gd name="adj" fmla="val 7791"/>
            </a:avLst>
          </a:prstGeom>
          <a:solidFill>
            <a:srgbClr val="FFFFFF"/>
          </a:solidFill>
          <a:ln w="12700">
            <a:solidFill>
              <a:srgbClr val="D6EAFF"/>
            </a:solidFill>
            <a:prstDash val="solid"/>
          </a:ln>
        </p:spPr>
        <p:txBody>
          <a:bodyPr/>
          <a:lstStyle/>
          <a:p>
            <a:endParaRPr lang="ko-KR" altLang="en-US"/>
          </a:p>
        </p:txBody>
      </p:sp>
      <p:pic>
        <p:nvPicPr>
          <p:cNvPr id="13" name="Image 2" descr="Globe"/>
          <p:cNvPicPr>
            <a:picLocks noChangeAspect="1"/>
          </p:cNvPicPr>
          <p:nvPr/>
        </p:nvPicPr>
        <p:blipFill>
          <a:blip r:embed="rId5"/>
          <a:srcRect/>
          <a:stretch/>
        </p:blipFill>
        <p:spPr>
          <a:xfrm>
            <a:off x="8197628" y="2357183"/>
            <a:ext cx="304763" cy="304763"/>
          </a:xfrm>
          <a:prstGeom prst="rect">
            <a:avLst/>
          </a:prstGeom>
        </p:spPr>
      </p:pic>
      <p:sp>
        <p:nvSpPr>
          <p:cNvPr id="14" name="Text 9"/>
          <p:cNvSpPr/>
          <p:nvPr/>
        </p:nvSpPr>
        <p:spPr>
          <a:xfrm>
            <a:off x="8197628" y="2738140"/>
            <a:ext cx="3030805" cy="322609"/>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031552"/>
                </a:solidFill>
                <a:latin typeface="Pretendard" pitchFamily="34" charset="0"/>
                <a:ea typeface="Pretendard" pitchFamily="34" charset="-122"/>
                <a:cs typeface="Pretendard" pitchFamily="34" charset="-120"/>
              </a:rPr>
              <a:t>PC·모바일 한 번에</a:t>
            </a:r>
            <a:endParaRPr lang="en-US" sz="1800" dirty="0"/>
          </a:p>
        </p:txBody>
      </p:sp>
      <p:sp>
        <p:nvSpPr>
          <p:cNvPr id="15" name="Text 10"/>
          <p:cNvSpPr/>
          <p:nvPr/>
        </p:nvSpPr>
        <p:spPr>
          <a:xfrm>
            <a:off x="8197628" y="3111537"/>
            <a:ext cx="3030805" cy="273047"/>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676E71"/>
                </a:solidFill>
                <a:latin typeface="Pretendard" pitchFamily="34" charset="0"/>
                <a:ea typeface="Pretendard" pitchFamily="34" charset="-122"/>
                <a:cs typeface="Pretendard" pitchFamily="34" charset="-120"/>
              </a:rPr>
              <a:t>같은 내용을 PC용·모바일용으로 각각 저장</a:t>
            </a:r>
            <a:endParaRPr lang="en-US" sz="1300" dirty="0"/>
          </a:p>
        </p:txBody>
      </p:sp>
      <p:sp>
        <p:nvSpPr>
          <p:cNvPr id="16" name="Shape 11"/>
          <p:cNvSpPr/>
          <p:nvPr/>
        </p:nvSpPr>
        <p:spPr>
          <a:xfrm>
            <a:off x="819124" y="4164236"/>
            <a:ext cx="3407842" cy="1874625"/>
          </a:xfrm>
          <a:prstGeom prst="roundRect">
            <a:avLst>
              <a:gd name="adj" fmla="val 7791"/>
            </a:avLst>
          </a:prstGeom>
          <a:solidFill>
            <a:srgbClr val="FFFFFF"/>
          </a:solidFill>
          <a:ln w="12700">
            <a:solidFill>
              <a:srgbClr val="D6EAFF"/>
            </a:solidFill>
            <a:prstDash val="solid"/>
          </a:ln>
        </p:spPr>
        <p:txBody>
          <a:bodyPr/>
          <a:lstStyle/>
          <a:p>
            <a:endParaRPr lang="ko-KR" altLang="en-US"/>
          </a:p>
        </p:txBody>
      </p:sp>
      <p:pic>
        <p:nvPicPr>
          <p:cNvPr id="17" name="Image 3" descr="CheckCircle"/>
          <p:cNvPicPr>
            <a:picLocks noChangeAspect="1"/>
          </p:cNvPicPr>
          <p:nvPr/>
        </p:nvPicPr>
        <p:blipFill>
          <a:blip r:embed="rId6"/>
          <a:srcRect/>
          <a:stretch/>
        </p:blipFill>
        <p:spPr>
          <a:xfrm>
            <a:off x="1051781" y="4396891"/>
            <a:ext cx="304763" cy="304763"/>
          </a:xfrm>
          <a:prstGeom prst="rect">
            <a:avLst/>
          </a:prstGeom>
        </p:spPr>
      </p:pic>
      <p:sp>
        <p:nvSpPr>
          <p:cNvPr id="18" name="Text 12"/>
          <p:cNvSpPr/>
          <p:nvPr/>
        </p:nvSpPr>
        <p:spPr>
          <a:xfrm>
            <a:off x="1051781" y="4777848"/>
            <a:ext cx="3030805" cy="322609"/>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031552"/>
                </a:solidFill>
                <a:latin typeface="Pretendard" pitchFamily="34" charset="0"/>
                <a:ea typeface="Pretendard" pitchFamily="34" charset="-122"/>
                <a:cs typeface="Pretendard" pitchFamily="34" charset="-120"/>
              </a:rPr>
              <a:t>기획안 그대로 정확하게</a:t>
            </a:r>
            <a:endParaRPr lang="en-US" sz="1800" dirty="0"/>
          </a:p>
        </p:txBody>
      </p:sp>
      <p:sp>
        <p:nvSpPr>
          <p:cNvPr id="19" name="Text 13"/>
          <p:cNvSpPr/>
          <p:nvPr/>
        </p:nvSpPr>
        <p:spPr>
          <a:xfrm>
            <a:off x="1051781" y="5151245"/>
            <a:ext cx="3030805" cy="520694"/>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676E71"/>
                </a:solidFill>
                <a:latin typeface="Pretendard" pitchFamily="34" charset="0"/>
                <a:ea typeface="Pretendard" pitchFamily="34" charset="-122"/>
                <a:cs typeface="Pretendard" pitchFamily="34" charset="-120"/>
              </a:rPr>
              <a:t>문구·수치를 바꾸지 않고, 기획서와 대조 결과를 알려 줌</a:t>
            </a:r>
            <a:endParaRPr lang="en-US" sz="1300" dirty="0"/>
          </a:p>
        </p:txBody>
      </p:sp>
      <p:sp>
        <p:nvSpPr>
          <p:cNvPr id="20" name="Shape 14"/>
          <p:cNvSpPr/>
          <p:nvPr/>
        </p:nvSpPr>
        <p:spPr>
          <a:xfrm>
            <a:off x="4392048" y="4164236"/>
            <a:ext cx="3407842" cy="1874625"/>
          </a:xfrm>
          <a:prstGeom prst="roundRect">
            <a:avLst>
              <a:gd name="adj" fmla="val 7791"/>
            </a:avLst>
          </a:prstGeom>
          <a:solidFill>
            <a:srgbClr val="FFFFFF"/>
          </a:solidFill>
          <a:ln w="12700">
            <a:solidFill>
              <a:srgbClr val="D6EAFF"/>
            </a:solidFill>
            <a:prstDash val="solid"/>
          </a:ln>
        </p:spPr>
        <p:txBody>
          <a:bodyPr/>
          <a:lstStyle/>
          <a:p>
            <a:endParaRPr lang="ko-KR" altLang="en-US"/>
          </a:p>
        </p:txBody>
      </p:sp>
      <p:pic>
        <p:nvPicPr>
          <p:cNvPr id="21" name="Image 4" descr="Lightning"/>
          <p:cNvPicPr>
            <a:picLocks noChangeAspect="1"/>
          </p:cNvPicPr>
          <p:nvPr/>
        </p:nvPicPr>
        <p:blipFill>
          <a:blip r:embed="rId7"/>
          <a:srcRect/>
          <a:stretch/>
        </p:blipFill>
        <p:spPr>
          <a:xfrm>
            <a:off x="4624704" y="4396891"/>
            <a:ext cx="304763" cy="304763"/>
          </a:xfrm>
          <a:prstGeom prst="rect">
            <a:avLst/>
          </a:prstGeom>
        </p:spPr>
      </p:pic>
      <p:sp>
        <p:nvSpPr>
          <p:cNvPr id="22" name="Text 15"/>
          <p:cNvSpPr/>
          <p:nvPr/>
        </p:nvSpPr>
        <p:spPr>
          <a:xfrm>
            <a:off x="4624704" y="4777848"/>
            <a:ext cx="3030805" cy="322609"/>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031552"/>
                </a:solidFill>
                <a:latin typeface="Pretendard" pitchFamily="34" charset="0"/>
                <a:ea typeface="Pretendard" pitchFamily="34" charset="-122"/>
                <a:cs typeface="Pretendard" pitchFamily="34" charset="-120"/>
              </a:rPr>
              <a:t>수정은 그 자리에서</a:t>
            </a:r>
            <a:endParaRPr lang="en-US" sz="1800" dirty="0"/>
          </a:p>
        </p:txBody>
      </p:sp>
      <p:sp>
        <p:nvSpPr>
          <p:cNvPr id="23" name="Text 16"/>
          <p:cNvSpPr/>
          <p:nvPr/>
        </p:nvSpPr>
        <p:spPr>
          <a:xfrm>
            <a:off x="4624704" y="5151245"/>
            <a:ext cx="3030805" cy="273047"/>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676E71"/>
                </a:solidFill>
                <a:latin typeface="Pretendard" pitchFamily="34" charset="0"/>
                <a:ea typeface="Pretendard" pitchFamily="34" charset="-122"/>
                <a:cs typeface="Pretendard" pitchFamily="34" charset="-120"/>
              </a:rPr>
              <a:t>오탈자·숫자는 미리보기에서 바로 고침</a:t>
            </a:r>
            <a:endParaRPr lang="en-US" sz="1300" dirty="0"/>
          </a:p>
        </p:txBody>
      </p:sp>
      <p:sp>
        <p:nvSpPr>
          <p:cNvPr id="24" name="Shape 17"/>
          <p:cNvSpPr/>
          <p:nvPr/>
        </p:nvSpPr>
        <p:spPr>
          <a:xfrm>
            <a:off x="7964971" y="4164236"/>
            <a:ext cx="3407842" cy="1874625"/>
          </a:xfrm>
          <a:prstGeom prst="roundRect">
            <a:avLst>
              <a:gd name="adj" fmla="val 7791"/>
            </a:avLst>
          </a:prstGeom>
          <a:solidFill>
            <a:srgbClr val="FFFFFF"/>
          </a:solidFill>
          <a:ln w="12700">
            <a:solidFill>
              <a:srgbClr val="D6EAFF"/>
            </a:solidFill>
            <a:prstDash val="solid"/>
          </a:ln>
        </p:spPr>
        <p:txBody>
          <a:bodyPr/>
          <a:lstStyle/>
          <a:p>
            <a:endParaRPr lang="ko-KR" altLang="en-US"/>
          </a:p>
        </p:txBody>
      </p:sp>
      <p:pic>
        <p:nvPicPr>
          <p:cNvPr id="25" name="Image 5" descr="Book"/>
          <p:cNvPicPr>
            <a:picLocks noChangeAspect="1"/>
          </p:cNvPicPr>
          <p:nvPr/>
        </p:nvPicPr>
        <p:blipFill>
          <a:blip r:embed="rId8"/>
          <a:srcRect/>
          <a:stretch/>
        </p:blipFill>
        <p:spPr>
          <a:xfrm>
            <a:off x="8197628" y="4396891"/>
            <a:ext cx="304763" cy="304763"/>
          </a:xfrm>
          <a:prstGeom prst="rect">
            <a:avLst/>
          </a:prstGeom>
        </p:spPr>
      </p:pic>
      <p:sp>
        <p:nvSpPr>
          <p:cNvPr id="26" name="Text 18"/>
          <p:cNvSpPr/>
          <p:nvPr/>
        </p:nvSpPr>
        <p:spPr>
          <a:xfrm>
            <a:off x="8197628" y="4777848"/>
            <a:ext cx="3030805" cy="322609"/>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031552"/>
                </a:solidFill>
                <a:latin typeface="Pretendard" pitchFamily="34" charset="0"/>
                <a:ea typeface="Pretendard" pitchFamily="34" charset="-122"/>
                <a:cs typeface="Pretendard" pitchFamily="34" charset="-120"/>
              </a:rPr>
              <a:t>리드마그넷 PDF</a:t>
            </a:r>
            <a:endParaRPr lang="en-US" sz="1800" dirty="0"/>
          </a:p>
        </p:txBody>
      </p:sp>
      <p:sp>
        <p:nvSpPr>
          <p:cNvPr id="27" name="Text 19"/>
          <p:cNvSpPr/>
          <p:nvPr/>
        </p:nvSpPr>
        <p:spPr>
          <a:xfrm>
            <a:off x="8197628" y="5151245"/>
            <a:ext cx="3030805" cy="273047"/>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676E71"/>
                </a:solidFill>
                <a:latin typeface="Pretendard" pitchFamily="34" charset="0"/>
                <a:ea typeface="Pretendard" pitchFamily="34" charset="-122"/>
                <a:cs typeface="Pretendard" pitchFamily="34" charset="-120"/>
              </a:rPr>
              <a:t>전에는 못 만들던 인포그래픽 PDF 자료까지</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69"/>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뉴스레터 제작의 구성요소</a:t>
            </a:r>
            <a:endParaRPr lang="en-US" sz="1400" dirty="0"/>
          </a:p>
        </p:txBody>
      </p:sp>
      <p:sp>
        <p:nvSpPr>
          <p:cNvPr id="3" name="Text 1"/>
          <p:cNvSpPr>
            <a:spLocks noGrp="1"/>
          </p:cNvSpPr>
          <p:nvPr>
            <p:ph type="title"/>
          </p:nvPr>
        </p:nvSpPr>
        <p:spPr>
          <a:xfrm>
            <a:off x="812774" y="1366428"/>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뉴스레터는 세 가지로 만들어집니다</a:t>
            </a:r>
            <a:endParaRPr lang="en-US" sz="3600" dirty="0"/>
          </a:p>
        </p:txBody>
      </p:sp>
      <p:sp>
        <p:nvSpPr>
          <p:cNvPr id="4" name="Shape 2"/>
          <p:cNvSpPr/>
          <p:nvPr/>
        </p:nvSpPr>
        <p:spPr>
          <a:xfrm>
            <a:off x="819124" y="2226152"/>
            <a:ext cx="3380942" cy="3812708"/>
          </a:xfrm>
          <a:prstGeom prst="roundRect">
            <a:avLst>
              <a:gd name="adj" fmla="val 4320"/>
            </a:avLst>
          </a:prstGeom>
          <a:solidFill>
            <a:srgbClr val="FFFFFF"/>
          </a:solidFill>
          <a:ln w="12700">
            <a:solidFill>
              <a:srgbClr val="D6EAFF"/>
            </a:solidFill>
            <a:prstDash val="solid"/>
          </a:ln>
        </p:spPr>
        <p:txBody>
          <a:bodyPr/>
          <a:lstStyle/>
          <a:p>
            <a:endParaRPr lang="ko-KR" altLang="en-US"/>
          </a:p>
        </p:txBody>
      </p:sp>
      <p:sp>
        <p:nvSpPr>
          <p:cNvPr id="5" name="Text 3"/>
          <p:cNvSpPr/>
          <p:nvPr/>
        </p:nvSpPr>
        <p:spPr>
          <a:xfrm>
            <a:off x="1127971" y="2534996"/>
            <a:ext cx="2846145" cy="594331"/>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74EB"/>
                </a:solidFill>
                <a:latin typeface="Pretendard" pitchFamily="34" charset="0"/>
                <a:ea typeface="Pretendard" pitchFamily="34" charset="-122"/>
                <a:cs typeface="Pretendard" pitchFamily="34" charset="-120"/>
              </a:rPr>
              <a:t>01</a:t>
            </a:r>
            <a:endParaRPr lang="en-US" sz="3200" dirty="0"/>
          </a:p>
        </p:txBody>
      </p:sp>
      <p:sp>
        <p:nvSpPr>
          <p:cNvPr id="6" name="Text 4"/>
          <p:cNvSpPr/>
          <p:nvPr/>
        </p:nvSpPr>
        <p:spPr>
          <a:xfrm>
            <a:off x="1127971" y="3230879"/>
            <a:ext cx="2846145" cy="36065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31552"/>
                </a:solidFill>
                <a:latin typeface="Pretendard" pitchFamily="34" charset="0"/>
                <a:ea typeface="Pretendard" pitchFamily="34" charset="-122"/>
                <a:cs typeface="Pretendard" pitchFamily="34" charset="-120"/>
              </a:rPr>
              <a:t>썸네일</a:t>
            </a:r>
            <a:endParaRPr lang="en-US" sz="2200" dirty="0"/>
          </a:p>
        </p:txBody>
      </p:sp>
      <p:sp>
        <p:nvSpPr>
          <p:cNvPr id="7" name="Text 5"/>
          <p:cNvSpPr/>
          <p:nvPr/>
        </p:nvSpPr>
        <p:spPr>
          <a:xfrm>
            <a:off x="1127971" y="3693077"/>
            <a:ext cx="2846145"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콘텐츠마다 1장. 목록과 메일에서 가장 먼저 보이는 대표 이미지</a:t>
            </a:r>
            <a:endParaRPr lang="en-US" sz="1400" dirty="0"/>
          </a:p>
        </p:txBody>
      </p:sp>
      <p:sp>
        <p:nvSpPr>
          <p:cNvPr id="8" name="Shape 6"/>
          <p:cNvSpPr/>
          <p:nvPr/>
        </p:nvSpPr>
        <p:spPr>
          <a:xfrm>
            <a:off x="4415959" y="2226152"/>
            <a:ext cx="3380942" cy="3812708"/>
          </a:xfrm>
          <a:prstGeom prst="roundRect">
            <a:avLst>
              <a:gd name="adj" fmla="val 4320"/>
            </a:avLst>
          </a:prstGeom>
          <a:solidFill>
            <a:srgbClr val="FFFFFF"/>
          </a:solidFill>
          <a:ln w="12700">
            <a:solidFill>
              <a:srgbClr val="D6EAFF"/>
            </a:solidFill>
            <a:prstDash val="solid"/>
          </a:ln>
        </p:spPr>
        <p:txBody>
          <a:bodyPr/>
          <a:lstStyle/>
          <a:p>
            <a:endParaRPr lang="ko-KR" altLang="en-US"/>
          </a:p>
        </p:txBody>
      </p:sp>
      <p:sp>
        <p:nvSpPr>
          <p:cNvPr id="9" name="Text 7"/>
          <p:cNvSpPr/>
          <p:nvPr/>
        </p:nvSpPr>
        <p:spPr>
          <a:xfrm>
            <a:off x="4724807" y="2534996"/>
            <a:ext cx="2846145" cy="594331"/>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74EB"/>
                </a:solidFill>
                <a:latin typeface="Pretendard" pitchFamily="34" charset="0"/>
                <a:ea typeface="Pretendard" pitchFamily="34" charset="-122"/>
                <a:cs typeface="Pretendard" pitchFamily="34" charset="-120"/>
              </a:rPr>
              <a:t>02</a:t>
            </a:r>
            <a:endParaRPr lang="en-US" sz="3200" dirty="0"/>
          </a:p>
        </p:txBody>
      </p:sp>
      <p:sp>
        <p:nvSpPr>
          <p:cNvPr id="10" name="Text 8"/>
          <p:cNvSpPr/>
          <p:nvPr/>
        </p:nvSpPr>
        <p:spPr>
          <a:xfrm>
            <a:off x="4724807" y="3230879"/>
            <a:ext cx="2846145" cy="36065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31552"/>
                </a:solidFill>
                <a:latin typeface="Pretendard" pitchFamily="34" charset="0"/>
                <a:ea typeface="Pretendard" pitchFamily="34" charset="-122"/>
                <a:cs typeface="Pretendard" pitchFamily="34" charset="-120"/>
              </a:rPr>
              <a:t>콘텐츠 이미지</a:t>
            </a:r>
            <a:endParaRPr lang="en-US" sz="2200" dirty="0"/>
          </a:p>
        </p:txBody>
      </p:sp>
      <p:sp>
        <p:nvSpPr>
          <p:cNvPr id="11" name="Text 9"/>
          <p:cNvSpPr/>
          <p:nvPr/>
        </p:nvSpPr>
        <p:spPr>
          <a:xfrm>
            <a:off x="4724807" y="3693077"/>
            <a:ext cx="2846145"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676E71"/>
                </a:solidFill>
                <a:latin typeface="Pretendard" pitchFamily="34" charset="0"/>
                <a:ea typeface="Pretendard" pitchFamily="34" charset="-122"/>
                <a:cs typeface="Pretendard" pitchFamily="34" charset="-120"/>
              </a:rPr>
              <a:t>본문에 들어가는 리스트·표·차트 이미지. PC용·모바일용으로 저장</a:t>
            </a:r>
            <a:endParaRPr lang="en-US" sz="1400" dirty="0"/>
          </a:p>
        </p:txBody>
      </p:sp>
      <p:sp>
        <p:nvSpPr>
          <p:cNvPr id="12" name="Shape 10"/>
          <p:cNvSpPr/>
          <p:nvPr/>
        </p:nvSpPr>
        <p:spPr>
          <a:xfrm>
            <a:off x="8006445" y="2219802"/>
            <a:ext cx="3372773" cy="3825408"/>
          </a:xfrm>
          <a:prstGeom prst="roundRect">
            <a:avLst>
              <a:gd name="adj" fmla="val 4519"/>
            </a:avLst>
          </a:prstGeom>
          <a:solidFill>
            <a:srgbClr val="031552"/>
          </a:solidFill>
          <a:ln/>
        </p:spPr>
        <p:txBody>
          <a:bodyPr/>
          <a:lstStyle/>
          <a:p>
            <a:endParaRPr lang="ko-KR" altLang="en-US"/>
          </a:p>
        </p:txBody>
      </p:sp>
      <p:sp>
        <p:nvSpPr>
          <p:cNvPr id="13" name="Text 11"/>
          <p:cNvSpPr/>
          <p:nvPr/>
        </p:nvSpPr>
        <p:spPr>
          <a:xfrm>
            <a:off x="8311207" y="2524565"/>
            <a:ext cx="2846145" cy="594331"/>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0AC262"/>
                </a:solidFill>
                <a:latin typeface="Pretendard" pitchFamily="34" charset="0"/>
                <a:ea typeface="Pretendard" pitchFamily="34" charset="-122"/>
                <a:cs typeface="Pretendard" pitchFamily="34" charset="-120"/>
              </a:rPr>
              <a:t>03</a:t>
            </a:r>
            <a:endParaRPr lang="en-US" sz="3200" dirty="0"/>
          </a:p>
        </p:txBody>
      </p:sp>
      <p:sp>
        <p:nvSpPr>
          <p:cNvPr id="14" name="Text 12"/>
          <p:cNvSpPr/>
          <p:nvPr/>
        </p:nvSpPr>
        <p:spPr>
          <a:xfrm>
            <a:off x="8311207" y="3220442"/>
            <a:ext cx="2846145" cy="36065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FFFF"/>
                </a:solidFill>
                <a:latin typeface="Pretendard" pitchFamily="34" charset="0"/>
                <a:ea typeface="Pretendard" pitchFamily="34" charset="-122"/>
                <a:cs typeface="Pretendard" pitchFamily="34" charset="-120"/>
              </a:rPr>
              <a:t>리드마그넷 PDF</a:t>
            </a:r>
            <a:endParaRPr lang="en-US" sz="2200" dirty="0"/>
          </a:p>
        </p:txBody>
      </p:sp>
      <p:sp>
        <p:nvSpPr>
          <p:cNvPr id="15" name="Text 13"/>
          <p:cNvSpPr/>
          <p:nvPr/>
        </p:nvSpPr>
        <p:spPr>
          <a:xfrm>
            <a:off x="8311207" y="3682640"/>
            <a:ext cx="2846145" cy="558844"/>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ADD3FF"/>
                </a:solidFill>
                <a:latin typeface="Pretendard" pitchFamily="34" charset="0"/>
                <a:ea typeface="Pretendard" pitchFamily="34" charset="-122"/>
                <a:cs typeface="Pretendard" pitchFamily="34" charset="-120"/>
              </a:rPr>
              <a:t>메인 콘텐츠를 담은 인포그래픽 PDF 자료. 게시판·전달·인쇄용</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BFF"/>
        </a:solidFill>
        <a:effectLst/>
      </p:bgPr>
    </p:bg>
    <p:spTree>
      <p:nvGrpSpPr>
        <p:cNvPr id="1" name=""/>
        <p:cNvGrpSpPr/>
        <p:nvPr/>
      </p:nvGrpSpPr>
      <p:grpSpPr>
        <a:xfrm>
          <a:off x="0" y="0"/>
          <a:ext cx="0" cy="0"/>
          <a:chOff x="0" y="0"/>
          <a:chExt cx="0" cy="0"/>
        </a:xfrm>
      </p:grpSpPr>
      <p:sp>
        <p:nvSpPr>
          <p:cNvPr id="2" name="Text 0"/>
          <p:cNvSpPr/>
          <p:nvPr/>
        </p:nvSpPr>
        <p:spPr>
          <a:xfrm>
            <a:off x="812774" y="812775"/>
            <a:ext cx="10883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74EB"/>
                </a:solidFill>
                <a:latin typeface="Pretendard" pitchFamily="34" charset="0"/>
                <a:ea typeface="Pretendard" pitchFamily="34" charset="-122"/>
                <a:cs typeface="Pretendard" pitchFamily="34" charset="-120"/>
              </a:rPr>
              <a:t>사용 준비</a:t>
            </a:r>
            <a:endParaRPr lang="en-US" sz="1400" dirty="0"/>
          </a:p>
        </p:txBody>
      </p:sp>
      <p:sp>
        <p:nvSpPr>
          <p:cNvPr id="3" name="Text 1"/>
          <p:cNvSpPr>
            <a:spLocks noGrp="1"/>
          </p:cNvSpPr>
          <p:nvPr>
            <p:ph type="title"/>
          </p:nvPr>
        </p:nvSpPr>
        <p:spPr>
          <a:xfrm>
            <a:off x="812774" y="1239434"/>
            <a:ext cx="10883437" cy="574006"/>
          </a:xfrm>
          <a:prstGeom prst="rect">
            <a:avLst/>
          </a:prstGeom>
          <a:noFill/>
          <a:ln/>
        </p:spPr>
        <p:txBody>
          <a:bodyPr wrap="square" lIns="0" tIns="0" rIns="0" bIns="0" rtlCol="0" anchor="t">
            <a:normAutofit/>
          </a:bodyPr>
          <a:lstStyle/>
          <a:p>
            <a:pPr marL="0" indent="0" algn="l">
              <a:lnSpc>
                <a:spcPts val="4320"/>
              </a:lnSpc>
              <a:buNone/>
            </a:pPr>
            <a:r>
              <a:rPr lang="en-US" sz="3600" b="1" i="0" dirty="0">
                <a:solidFill>
                  <a:srgbClr val="031552"/>
                </a:solidFill>
                <a:latin typeface="Pretendard" pitchFamily="34" charset="0"/>
                <a:ea typeface="Pretendard" pitchFamily="34" charset="-122"/>
                <a:cs typeface="Pretendard" pitchFamily="34" charset="-120"/>
              </a:rPr>
              <a:t>Claude가 만들고, 편집 툴에서 완성합니다</a:t>
            </a:r>
            <a:endParaRPr lang="en-US" sz="3600" dirty="0"/>
          </a:p>
        </p:txBody>
      </p:sp>
      <p:sp>
        <p:nvSpPr>
          <p:cNvPr id="4" name="Shape 2"/>
          <p:cNvSpPr/>
          <p:nvPr/>
        </p:nvSpPr>
        <p:spPr>
          <a:xfrm>
            <a:off x="819124" y="1972146"/>
            <a:ext cx="4918506" cy="3675651"/>
          </a:xfrm>
          <a:prstGeom prst="roundRect">
            <a:avLst>
              <a:gd name="adj" fmla="val 3973"/>
            </a:avLst>
          </a:prstGeom>
          <a:solidFill>
            <a:srgbClr val="FFFFFF"/>
          </a:solidFill>
          <a:ln w="12700">
            <a:solidFill>
              <a:srgbClr val="D6EAFF"/>
            </a:solidFill>
            <a:prstDash val="solid"/>
          </a:ln>
        </p:spPr>
        <p:txBody>
          <a:bodyPr/>
          <a:lstStyle/>
          <a:p>
            <a:endParaRPr lang="ko-KR" altLang="en-US"/>
          </a:p>
        </p:txBody>
      </p:sp>
      <p:sp>
        <p:nvSpPr>
          <p:cNvPr id="5" name="Text 3"/>
          <p:cNvSpPr/>
          <p:nvPr/>
        </p:nvSpPr>
        <p:spPr>
          <a:xfrm>
            <a:off x="1051781" y="2204808"/>
            <a:ext cx="4586789" cy="330163"/>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31552"/>
                </a:solidFill>
                <a:latin typeface="Pretendard" pitchFamily="34" charset="0"/>
                <a:ea typeface="Pretendard" pitchFamily="34" charset="-122"/>
                <a:cs typeface="Pretendard" pitchFamily="34" charset="-120"/>
              </a:rPr>
              <a:t>Claude</a:t>
            </a:r>
            <a:endParaRPr lang="en-US" sz="2000" dirty="0"/>
          </a:p>
        </p:txBody>
      </p:sp>
      <p:sp>
        <p:nvSpPr>
          <p:cNvPr id="6" name="Text 4"/>
          <p:cNvSpPr/>
          <p:nvPr/>
        </p:nvSpPr>
        <p:spPr>
          <a:xfrm>
            <a:off x="1051781" y="2611140"/>
            <a:ext cx="4586789"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76E71"/>
                </a:solidFill>
                <a:latin typeface="Pretendard" pitchFamily="34" charset="0"/>
                <a:ea typeface="Pretendard" pitchFamily="34" charset="-122"/>
                <a:cs typeface="Pretendard" pitchFamily="34" charset="-120"/>
              </a:rPr>
              <a:t>유료 계정 + 뉴스레터 스킬 등록(처음 한 번)</a:t>
            </a:r>
            <a:endParaRPr lang="en-US" sz="1200" dirty="0"/>
          </a:p>
        </p:txBody>
      </p:sp>
      <p:sp>
        <p:nvSpPr>
          <p:cNvPr id="7" name="Text 5"/>
          <p:cNvSpPr/>
          <p:nvPr/>
        </p:nvSpPr>
        <p:spPr>
          <a:xfrm>
            <a:off x="1051781" y="2926011"/>
            <a:ext cx="1281222" cy="391008"/>
          </a:xfrm>
          <a:custGeom>
            <a:avLst/>
            <a:gdLst/>
            <a:ahLst/>
            <a:cxnLst/>
            <a:rect l="l" t="t" r="r" b="b"/>
            <a:pathLst>
              <a:path w="1281222" h="391008">
                <a:moveTo>
                  <a:pt x="76200" y="0"/>
                </a:moveTo>
                <a:lnTo>
                  <a:pt x="1205022" y="0"/>
                </a:lnTo>
                <a:arcTo wR="76200" hR="76200" stAng="16200000" swAng="5400000"/>
                <a:lnTo>
                  <a:pt x="1281222" y="314808"/>
                </a:lnTo>
                <a:arcTo wR="76200" hR="76200" stAng="0" swAng="5400000"/>
                <a:lnTo>
                  <a:pt x="76200" y="391008"/>
                </a:lnTo>
                <a:arcTo wR="76200" hR="76200" stAng="5400000" swAng="5400000"/>
                <a:lnTo>
                  <a:pt x="0" y="76200"/>
                </a:lnTo>
                <a:arcTo wR="76200" hR="76200" stAng="10800000" swAng="5400000"/>
                <a:close/>
              </a:path>
            </a:pathLst>
          </a:custGeom>
          <a:solidFill>
            <a:srgbClr val="1D55C4"/>
          </a:solidFill>
          <a:ln/>
        </p:spPr>
        <p:txBody>
          <a:bodyPr wrap="square" lIns="25400" tIns="88900" rIns="25400" bIns="63500" rtlCol="0" anchor="t">
            <a:normAutofit/>
          </a:bodyPr>
          <a:lstStyle/>
          <a:p>
            <a:pPr marL="0" indent="0" algn="ctr">
              <a:lnSpc>
                <a:spcPts val="1680"/>
              </a:lnSpc>
              <a:buNone/>
            </a:pPr>
            <a:r>
              <a:rPr lang="en-US" sz="1200" b="1" dirty="0">
                <a:solidFill>
                  <a:srgbClr val="FFFFFF"/>
                </a:solidFill>
                <a:latin typeface="Pretendard" pitchFamily="34" charset="0"/>
                <a:ea typeface="Pretendard" pitchFamily="34" charset="-122"/>
                <a:cs typeface="Pretendard" pitchFamily="34" charset="-120"/>
              </a:rPr>
              <a:t>1. 기획안 올리기</a:t>
            </a:r>
            <a:endParaRPr lang="en-US" sz="1200" dirty="0"/>
          </a:p>
        </p:txBody>
      </p:sp>
      <p:pic>
        <p:nvPicPr>
          <p:cNvPr id="8" name="Image 0" descr="arrow-right"/>
          <p:cNvPicPr>
            <a:picLocks noChangeAspect="1"/>
          </p:cNvPicPr>
          <p:nvPr/>
        </p:nvPicPr>
        <p:blipFill>
          <a:blip r:embed="rId3"/>
          <a:srcRect l="-15" r="-15"/>
          <a:stretch/>
        </p:blipFill>
        <p:spPr>
          <a:xfrm>
            <a:off x="2396477" y="3077083"/>
            <a:ext cx="177760" cy="88853"/>
          </a:xfrm>
          <a:prstGeom prst="rect">
            <a:avLst/>
          </a:prstGeom>
        </p:spPr>
      </p:pic>
      <p:sp>
        <p:nvSpPr>
          <p:cNvPr id="9" name="Text 6"/>
          <p:cNvSpPr/>
          <p:nvPr/>
        </p:nvSpPr>
        <p:spPr>
          <a:xfrm>
            <a:off x="2637712" y="2926011"/>
            <a:ext cx="1281277" cy="391008"/>
          </a:xfrm>
          <a:custGeom>
            <a:avLst/>
            <a:gdLst/>
            <a:ahLst/>
            <a:cxnLst/>
            <a:rect l="l" t="t" r="r" b="b"/>
            <a:pathLst>
              <a:path w="1281277" h="391008">
                <a:moveTo>
                  <a:pt x="76200" y="0"/>
                </a:moveTo>
                <a:lnTo>
                  <a:pt x="1205077" y="0"/>
                </a:lnTo>
                <a:arcTo wR="76200" hR="76200" stAng="16200000" swAng="5400000"/>
                <a:lnTo>
                  <a:pt x="1281277" y="314808"/>
                </a:lnTo>
                <a:arcTo wR="76200" hR="76200" stAng="0" swAng="5400000"/>
                <a:lnTo>
                  <a:pt x="76200" y="391008"/>
                </a:lnTo>
                <a:arcTo wR="76200" hR="76200" stAng="5400000" swAng="5400000"/>
                <a:lnTo>
                  <a:pt x="0" y="76200"/>
                </a:lnTo>
                <a:arcTo wR="76200" hR="76200" stAng="10800000" swAng="5400000"/>
                <a:close/>
              </a:path>
            </a:pathLst>
          </a:custGeom>
          <a:solidFill>
            <a:srgbClr val="1D55C4"/>
          </a:solidFill>
          <a:ln/>
        </p:spPr>
        <p:txBody>
          <a:bodyPr wrap="square" lIns="25400" tIns="88900" rIns="25400" bIns="63500" rtlCol="0" anchor="t">
            <a:normAutofit/>
          </a:bodyPr>
          <a:lstStyle/>
          <a:p>
            <a:pPr marL="0" indent="0" algn="ctr">
              <a:lnSpc>
                <a:spcPts val="1680"/>
              </a:lnSpc>
              <a:buNone/>
            </a:pPr>
            <a:r>
              <a:rPr lang="en-US" sz="1200" b="1" dirty="0">
                <a:solidFill>
                  <a:srgbClr val="FFFFFF"/>
                </a:solidFill>
                <a:latin typeface="Pretendard" pitchFamily="34" charset="0"/>
                <a:ea typeface="Pretendard" pitchFamily="34" charset="-122"/>
                <a:cs typeface="Pretendard" pitchFamily="34" charset="-120"/>
              </a:rPr>
              <a:t>2. 미리보기 OK</a:t>
            </a:r>
            <a:endParaRPr lang="en-US" sz="1200" dirty="0"/>
          </a:p>
        </p:txBody>
      </p:sp>
      <p:pic>
        <p:nvPicPr>
          <p:cNvPr id="10" name="Image 1" descr="arrow-right"/>
          <p:cNvPicPr>
            <a:picLocks noChangeAspect="1"/>
          </p:cNvPicPr>
          <p:nvPr/>
        </p:nvPicPr>
        <p:blipFill>
          <a:blip r:embed="rId3"/>
          <a:srcRect l="-15" r="-15"/>
          <a:stretch/>
        </p:blipFill>
        <p:spPr>
          <a:xfrm>
            <a:off x="3982463" y="3077083"/>
            <a:ext cx="177760" cy="88853"/>
          </a:xfrm>
          <a:prstGeom prst="rect">
            <a:avLst/>
          </a:prstGeom>
        </p:spPr>
      </p:pic>
      <p:sp>
        <p:nvSpPr>
          <p:cNvPr id="11" name="Text 7"/>
          <p:cNvSpPr/>
          <p:nvPr/>
        </p:nvSpPr>
        <p:spPr>
          <a:xfrm>
            <a:off x="4223697" y="2926011"/>
            <a:ext cx="1281277" cy="391008"/>
          </a:xfrm>
          <a:custGeom>
            <a:avLst/>
            <a:gdLst/>
            <a:ahLst/>
            <a:cxnLst/>
            <a:rect l="l" t="t" r="r" b="b"/>
            <a:pathLst>
              <a:path w="1281277" h="391008">
                <a:moveTo>
                  <a:pt x="76200" y="0"/>
                </a:moveTo>
                <a:lnTo>
                  <a:pt x="1205077" y="0"/>
                </a:lnTo>
                <a:arcTo wR="76200" hR="76200" stAng="16200000" swAng="5400000"/>
                <a:lnTo>
                  <a:pt x="1281277" y="314808"/>
                </a:lnTo>
                <a:arcTo wR="76200" hR="76200" stAng="0" swAng="5400000"/>
                <a:lnTo>
                  <a:pt x="76200" y="391008"/>
                </a:lnTo>
                <a:arcTo wR="76200" hR="76200" stAng="5400000" swAng="5400000"/>
                <a:lnTo>
                  <a:pt x="0" y="76200"/>
                </a:lnTo>
                <a:arcTo wR="76200" hR="76200" stAng="10800000" swAng="5400000"/>
                <a:close/>
              </a:path>
            </a:pathLst>
          </a:custGeom>
          <a:solidFill>
            <a:srgbClr val="1D55C4"/>
          </a:solidFill>
          <a:ln/>
        </p:spPr>
        <p:txBody>
          <a:bodyPr wrap="square" lIns="25400" tIns="88900" rIns="25400" bIns="63500" rtlCol="0" anchor="t">
            <a:normAutofit/>
          </a:bodyPr>
          <a:lstStyle/>
          <a:p>
            <a:pPr marL="0" indent="0" algn="ctr">
              <a:lnSpc>
                <a:spcPts val="1680"/>
              </a:lnSpc>
              <a:buNone/>
            </a:pPr>
            <a:r>
              <a:rPr lang="en-US" sz="1200" b="1" dirty="0">
                <a:solidFill>
                  <a:srgbClr val="FFFFFF"/>
                </a:solidFill>
                <a:latin typeface="Pretendard" pitchFamily="34" charset="0"/>
                <a:ea typeface="Pretendard" pitchFamily="34" charset="-122"/>
                <a:cs typeface="Pretendard" pitchFamily="34" charset="-120"/>
              </a:rPr>
              <a:t>3. 결과 복사</a:t>
            </a:r>
            <a:endParaRPr lang="en-US" sz="1200" dirty="0"/>
          </a:p>
        </p:txBody>
      </p:sp>
      <p:sp>
        <p:nvSpPr>
          <p:cNvPr id="12" name="Text 8"/>
          <p:cNvSpPr/>
          <p:nvPr/>
        </p:nvSpPr>
        <p:spPr>
          <a:xfrm>
            <a:off x="1051781" y="3418588"/>
            <a:ext cx="4453193" cy="408833"/>
          </a:xfrm>
          <a:prstGeom prst="roundRect">
            <a:avLst>
              <a:gd name="adj" fmla="val 18638"/>
            </a:avLst>
          </a:prstGeom>
          <a:solidFill>
            <a:srgbClr val="F0F8FF"/>
          </a:solidFill>
          <a:ln/>
        </p:spPr>
        <p:txBody>
          <a:bodyPr wrap="square" lIns="130082" tIns="66582" rIns="5630" bIns="41182" rtlCol="0" anchor="t">
            <a:normAutofit/>
          </a:bodyPr>
          <a:lstStyle/>
          <a:p>
            <a:pPr marL="0" indent="0" algn="l">
              <a:lnSpc>
                <a:spcPts val="1820"/>
              </a:lnSpc>
              <a:buNone/>
            </a:pPr>
            <a:r>
              <a:rPr lang="en-US" sz="1300" b="1" dirty="0">
                <a:solidFill>
                  <a:srgbClr val="111111"/>
                </a:solidFill>
                <a:latin typeface="Pretendard" pitchFamily="34" charset="0"/>
                <a:ea typeface="Pretendard" pitchFamily="34" charset="-122"/>
                <a:cs typeface="Pretendard" pitchFamily="34" charset="-120"/>
              </a:rPr>
              <a:t>썸네일</a:t>
            </a:r>
            <a:r>
              <a:rPr lang="en-US" sz="1300" dirty="0">
                <a:solidFill>
                  <a:srgbClr val="111111"/>
                </a:solidFill>
                <a:latin typeface="Pretendard" pitchFamily="34" charset="0"/>
                <a:ea typeface="Pretendard" pitchFamily="34" charset="-122"/>
                <a:cs typeface="Pretendard" pitchFamily="34" charset="-120"/>
              </a:rPr>
              <a:t> · 이미지 프롬프트</a:t>
            </a:r>
            <a:endParaRPr lang="en-US" sz="1300" dirty="0"/>
          </a:p>
        </p:txBody>
      </p:sp>
      <p:sp>
        <p:nvSpPr>
          <p:cNvPr id="13" name="Text 9"/>
          <p:cNvSpPr/>
          <p:nvPr/>
        </p:nvSpPr>
        <p:spPr>
          <a:xfrm>
            <a:off x="1051781" y="3890894"/>
            <a:ext cx="4453193" cy="408833"/>
          </a:xfrm>
          <a:prstGeom prst="roundRect">
            <a:avLst>
              <a:gd name="adj" fmla="val 18638"/>
            </a:avLst>
          </a:prstGeom>
          <a:solidFill>
            <a:srgbClr val="F0F8FF"/>
          </a:solidFill>
          <a:ln/>
        </p:spPr>
        <p:txBody>
          <a:bodyPr wrap="square" lIns="130082" tIns="66582" rIns="5630" bIns="41182" rtlCol="0" anchor="t">
            <a:normAutofit/>
          </a:bodyPr>
          <a:lstStyle/>
          <a:p>
            <a:pPr marL="0" indent="0" algn="l">
              <a:lnSpc>
                <a:spcPts val="1820"/>
              </a:lnSpc>
              <a:buNone/>
            </a:pPr>
            <a:r>
              <a:rPr lang="en-US" sz="1300" b="1" dirty="0">
                <a:solidFill>
                  <a:srgbClr val="111111"/>
                </a:solidFill>
                <a:latin typeface="Pretendard" pitchFamily="34" charset="0"/>
                <a:ea typeface="Pretendard" pitchFamily="34" charset="-122"/>
                <a:cs typeface="Pretendard" pitchFamily="34" charset="-120"/>
              </a:rPr>
              <a:t>콘텐츠 이미지</a:t>
            </a:r>
            <a:r>
              <a:rPr lang="en-US" sz="1300" dirty="0">
                <a:solidFill>
                  <a:srgbClr val="111111"/>
                </a:solidFill>
                <a:latin typeface="Pretendard" pitchFamily="34" charset="0"/>
                <a:ea typeface="Pretendard" pitchFamily="34" charset="-122"/>
                <a:cs typeface="Pretendard" pitchFamily="34" charset="-120"/>
              </a:rPr>
              <a:t> · 블록 JSON</a:t>
            </a:r>
            <a:endParaRPr lang="en-US" sz="1300" dirty="0"/>
          </a:p>
        </p:txBody>
      </p:sp>
      <p:sp>
        <p:nvSpPr>
          <p:cNvPr id="14" name="Text 10"/>
          <p:cNvSpPr/>
          <p:nvPr/>
        </p:nvSpPr>
        <p:spPr>
          <a:xfrm>
            <a:off x="1051781" y="4363200"/>
            <a:ext cx="4453193" cy="408833"/>
          </a:xfrm>
          <a:prstGeom prst="roundRect">
            <a:avLst>
              <a:gd name="adj" fmla="val 18638"/>
            </a:avLst>
          </a:prstGeom>
          <a:solidFill>
            <a:srgbClr val="F0F8FF"/>
          </a:solidFill>
          <a:ln/>
        </p:spPr>
        <p:txBody>
          <a:bodyPr wrap="square" lIns="130082" tIns="66582" rIns="5630" bIns="41182" rtlCol="0" anchor="t">
            <a:normAutofit/>
          </a:bodyPr>
          <a:lstStyle/>
          <a:p>
            <a:pPr marL="0" indent="0" algn="l">
              <a:lnSpc>
                <a:spcPts val="1820"/>
              </a:lnSpc>
              <a:buNone/>
            </a:pPr>
            <a:r>
              <a:rPr lang="en-US" sz="1300" b="1" dirty="0">
                <a:solidFill>
                  <a:srgbClr val="111111"/>
                </a:solidFill>
                <a:latin typeface="Pretendard" pitchFamily="34" charset="0"/>
                <a:ea typeface="Pretendard" pitchFamily="34" charset="-122"/>
                <a:cs typeface="Pretendard" pitchFamily="34" charset="-120"/>
              </a:rPr>
              <a:t>리드마그넷 PDF</a:t>
            </a:r>
            <a:r>
              <a:rPr lang="en-US" sz="1300" dirty="0">
                <a:solidFill>
                  <a:srgbClr val="111111"/>
                </a:solidFill>
                <a:latin typeface="Pretendard" pitchFamily="34" charset="0"/>
                <a:ea typeface="Pretendard" pitchFamily="34" charset="-122"/>
                <a:cs typeface="Pretendard" pitchFamily="34" charset="-120"/>
              </a:rPr>
              <a:t> · 쪽 구성 JSON</a:t>
            </a:r>
            <a:endParaRPr lang="en-US" sz="1300" dirty="0"/>
          </a:p>
        </p:txBody>
      </p:sp>
      <p:pic>
        <p:nvPicPr>
          <p:cNvPr id="15" name="Image 2" descr="arrow-right"/>
          <p:cNvPicPr>
            <a:picLocks noChangeAspect="1"/>
          </p:cNvPicPr>
          <p:nvPr/>
        </p:nvPicPr>
        <p:blipFill>
          <a:blip r:embed="rId4"/>
          <a:srcRect l="-8" r="-8"/>
          <a:stretch/>
        </p:blipFill>
        <p:spPr>
          <a:xfrm>
            <a:off x="5928642" y="3582708"/>
            <a:ext cx="355575" cy="177760"/>
          </a:xfrm>
          <a:prstGeom prst="rect">
            <a:avLst/>
          </a:prstGeom>
        </p:spPr>
      </p:pic>
      <p:sp>
        <p:nvSpPr>
          <p:cNvPr id="16" name="Text 11"/>
          <p:cNvSpPr/>
          <p:nvPr/>
        </p:nvSpPr>
        <p:spPr>
          <a:xfrm>
            <a:off x="5823829" y="3823940"/>
            <a:ext cx="565203"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F74EB"/>
                </a:solidFill>
                <a:latin typeface="Pretendard" pitchFamily="34" charset="0"/>
                <a:ea typeface="Pretendard" pitchFamily="34" charset="-122"/>
                <a:cs typeface="Pretendard" pitchFamily="34" charset="-120"/>
              </a:rPr>
              <a:t>Ctrl+V</a:t>
            </a:r>
            <a:endParaRPr lang="en-US" sz="1200" dirty="0"/>
          </a:p>
        </p:txBody>
      </p:sp>
      <p:sp>
        <p:nvSpPr>
          <p:cNvPr id="17" name="Shape 12"/>
          <p:cNvSpPr/>
          <p:nvPr/>
        </p:nvSpPr>
        <p:spPr>
          <a:xfrm>
            <a:off x="6468880" y="1965796"/>
            <a:ext cx="4910338" cy="3688351"/>
          </a:xfrm>
          <a:prstGeom prst="roundRect">
            <a:avLst>
              <a:gd name="adj" fmla="val 4132"/>
            </a:avLst>
          </a:prstGeom>
          <a:solidFill>
            <a:srgbClr val="031552"/>
          </a:solidFill>
          <a:ln/>
        </p:spPr>
        <p:txBody>
          <a:bodyPr/>
          <a:lstStyle/>
          <a:p>
            <a:endParaRPr lang="ko-KR" altLang="en-US"/>
          </a:p>
        </p:txBody>
      </p:sp>
      <p:sp>
        <p:nvSpPr>
          <p:cNvPr id="18" name="Text 13"/>
          <p:cNvSpPr/>
          <p:nvPr/>
        </p:nvSpPr>
        <p:spPr>
          <a:xfrm>
            <a:off x="6697452" y="2194371"/>
            <a:ext cx="4586789" cy="330163"/>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Pretendard" pitchFamily="34" charset="0"/>
                <a:ea typeface="Pretendard" pitchFamily="34" charset="-122"/>
                <a:cs typeface="Pretendard" pitchFamily="34" charset="-120"/>
              </a:rPr>
              <a:t>편집 툴 AX Studio</a:t>
            </a:r>
            <a:endParaRPr lang="en-US" sz="2000" dirty="0"/>
          </a:p>
        </p:txBody>
      </p:sp>
      <p:sp>
        <p:nvSpPr>
          <p:cNvPr id="19" name="Text 14"/>
          <p:cNvSpPr/>
          <p:nvPr/>
        </p:nvSpPr>
        <p:spPr>
          <a:xfrm>
            <a:off x="6697452" y="2600703"/>
            <a:ext cx="4586789"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DD3FF"/>
                </a:solidFill>
                <a:latin typeface="Pretendard" pitchFamily="34" charset="0"/>
                <a:ea typeface="Pretendard" pitchFamily="34" charset="-122"/>
                <a:cs typeface="Pretendard" pitchFamily="34" charset="-120"/>
              </a:rPr>
              <a:t>디자인 시스템 자동 적용</a:t>
            </a:r>
            <a:endParaRPr lang="en-US" sz="1200" dirty="0"/>
          </a:p>
        </p:txBody>
      </p:sp>
      <p:sp>
        <p:nvSpPr>
          <p:cNvPr id="20" name="Text 15"/>
          <p:cNvSpPr/>
          <p:nvPr/>
        </p:nvSpPr>
        <p:spPr>
          <a:xfrm>
            <a:off x="6697452" y="2915574"/>
            <a:ext cx="2074215" cy="391008"/>
          </a:xfrm>
          <a:custGeom>
            <a:avLst/>
            <a:gdLst/>
            <a:ahLst/>
            <a:cxnLst/>
            <a:rect l="l" t="t" r="r" b="b"/>
            <a:pathLst>
              <a:path w="2074215" h="391008">
                <a:moveTo>
                  <a:pt x="76200" y="0"/>
                </a:moveTo>
                <a:lnTo>
                  <a:pt x="1998015" y="0"/>
                </a:lnTo>
                <a:arcTo wR="76200" hR="76200" stAng="16200000" swAng="5400000"/>
                <a:lnTo>
                  <a:pt x="2074215" y="314808"/>
                </a:lnTo>
                <a:arcTo wR="76200" hR="76200" stAng="0" swAng="5400000"/>
                <a:lnTo>
                  <a:pt x="76200" y="391008"/>
                </a:lnTo>
                <a:arcTo wR="76200" hR="76200" stAng="5400000" swAng="5400000"/>
                <a:lnTo>
                  <a:pt x="0" y="76200"/>
                </a:lnTo>
                <a:arcTo wR="76200" hR="76200" stAng="10800000" swAng="5400000"/>
                <a:close/>
              </a:path>
            </a:pathLst>
          </a:custGeom>
          <a:solidFill>
            <a:srgbClr val="0AC262"/>
          </a:solidFill>
          <a:ln/>
        </p:spPr>
        <p:txBody>
          <a:bodyPr wrap="square" lIns="21211" tIns="88900" rIns="21211" bIns="63500" rtlCol="0" anchor="t">
            <a:normAutofit/>
          </a:bodyPr>
          <a:lstStyle/>
          <a:p>
            <a:pPr marL="0" indent="0" algn="ctr">
              <a:lnSpc>
                <a:spcPts val="1680"/>
              </a:lnSpc>
              <a:buNone/>
            </a:pPr>
            <a:r>
              <a:rPr lang="en-US" sz="1200" b="1" dirty="0">
                <a:solidFill>
                  <a:srgbClr val="031552"/>
                </a:solidFill>
                <a:latin typeface="Pretendard" pitchFamily="34" charset="0"/>
                <a:ea typeface="Pretendard" pitchFamily="34" charset="-122"/>
                <a:cs typeface="Pretendard" pitchFamily="34" charset="-120"/>
              </a:rPr>
              <a:t>4. 붙여넣기</a:t>
            </a:r>
            <a:endParaRPr lang="en-US" sz="1200" dirty="0"/>
          </a:p>
        </p:txBody>
      </p:sp>
      <p:pic>
        <p:nvPicPr>
          <p:cNvPr id="21" name="Image 3" descr="arrow-right"/>
          <p:cNvPicPr>
            <a:picLocks noChangeAspect="1"/>
          </p:cNvPicPr>
          <p:nvPr/>
        </p:nvPicPr>
        <p:blipFill>
          <a:blip r:embed="rId5"/>
          <a:srcRect l="-15" r="-15"/>
          <a:stretch/>
        </p:blipFill>
        <p:spPr>
          <a:xfrm>
            <a:off x="8835141" y="3066653"/>
            <a:ext cx="177760" cy="88853"/>
          </a:xfrm>
          <a:prstGeom prst="rect">
            <a:avLst/>
          </a:prstGeom>
        </p:spPr>
      </p:pic>
      <p:sp>
        <p:nvSpPr>
          <p:cNvPr id="22" name="Text 16"/>
          <p:cNvSpPr/>
          <p:nvPr/>
        </p:nvSpPr>
        <p:spPr>
          <a:xfrm>
            <a:off x="9076376" y="2915574"/>
            <a:ext cx="2074270" cy="391008"/>
          </a:xfrm>
          <a:custGeom>
            <a:avLst/>
            <a:gdLst/>
            <a:ahLst/>
            <a:cxnLst/>
            <a:rect l="l" t="t" r="r" b="b"/>
            <a:pathLst>
              <a:path w="2074270" h="391008">
                <a:moveTo>
                  <a:pt x="76200" y="0"/>
                </a:moveTo>
                <a:lnTo>
                  <a:pt x="1998070" y="0"/>
                </a:lnTo>
                <a:arcTo wR="76200" hR="76200" stAng="16200000" swAng="5400000"/>
                <a:lnTo>
                  <a:pt x="2074270" y="314808"/>
                </a:lnTo>
                <a:arcTo wR="76200" hR="76200" stAng="0" swAng="5400000"/>
                <a:lnTo>
                  <a:pt x="76200" y="391008"/>
                </a:lnTo>
                <a:arcTo wR="76200" hR="76200" stAng="5400000" swAng="5400000"/>
                <a:lnTo>
                  <a:pt x="0" y="76200"/>
                </a:lnTo>
                <a:arcTo wR="76200" hR="76200" stAng="10800000" swAng="5400000"/>
                <a:close/>
              </a:path>
            </a:pathLst>
          </a:custGeom>
          <a:solidFill>
            <a:srgbClr val="0AC262"/>
          </a:solidFill>
          <a:ln/>
        </p:spPr>
        <p:txBody>
          <a:bodyPr wrap="square" lIns="21210" tIns="88900" rIns="21210" bIns="63500" rtlCol="0" anchor="t">
            <a:normAutofit/>
          </a:bodyPr>
          <a:lstStyle/>
          <a:p>
            <a:pPr marL="0" indent="0" algn="ctr">
              <a:lnSpc>
                <a:spcPts val="1680"/>
              </a:lnSpc>
              <a:buNone/>
            </a:pPr>
            <a:r>
              <a:rPr lang="en-US" sz="1200" b="1" dirty="0">
                <a:solidFill>
                  <a:srgbClr val="031552"/>
                </a:solidFill>
                <a:latin typeface="Pretendard" pitchFamily="34" charset="0"/>
                <a:ea typeface="Pretendard" pitchFamily="34" charset="-122"/>
                <a:cs typeface="Pretendard" pitchFamily="34" charset="-120"/>
              </a:rPr>
              <a:t>5.  확인·수정·저장</a:t>
            </a:r>
            <a:endParaRPr lang="en-US" sz="1200" dirty="0"/>
          </a:p>
        </p:txBody>
      </p:sp>
      <p:sp>
        <p:nvSpPr>
          <p:cNvPr id="23" name="Text 17"/>
          <p:cNvSpPr/>
          <p:nvPr/>
        </p:nvSpPr>
        <p:spPr>
          <a:xfrm>
            <a:off x="6697452" y="3408152"/>
            <a:ext cx="4453193" cy="408833"/>
          </a:xfrm>
          <a:prstGeom prst="roundRect">
            <a:avLst>
              <a:gd name="adj" fmla="val 18638"/>
            </a:avLst>
          </a:prstGeom>
          <a:solidFill>
            <a:srgbClr val="062478"/>
          </a:solidFill>
          <a:ln/>
        </p:spPr>
        <p:txBody>
          <a:bodyPr wrap="square" lIns="130082" tIns="66582" rIns="5630" bIns="41182" rtlCol="0" anchor="t">
            <a:normAutofit/>
          </a:bodyPr>
          <a:lstStyle/>
          <a:p>
            <a:pPr marL="0" indent="0" algn="l">
              <a:lnSpc>
                <a:spcPts val="1820"/>
              </a:lnSpc>
              <a:buNone/>
            </a:pPr>
            <a:r>
              <a:rPr lang="en-US" sz="1300" b="1" dirty="0">
                <a:solidFill>
                  <a:srgbClr val="FFFFFF"/>
                </a:solidFill>
                <a:latin typeface="Pretendard" pitchFamily="34" charset="0"/>
                <a:ea typeface="Pretendard" pitchFamily="34" charset="-122"/>
                <a:cs typeface="Pretendard" pitchFamily="34" charset="-120"/>
              </a:rPr>
              <a:t>썸네일</a:t>
            </a:r>
            <a:r>
              <a:rPr lang="en-US" sz="1300" dirty="0">
                <a:solidFill>
                  <a:srgbClr val="FFFFFF"/>
                </a:solidFill>
                <a:latin typeface="Pretendard" pitchFamily="34" charset="0"/>
                <a:ea typeface="Pretendard" pitchFamily="34" charset="-122"/>
                <a:cs typeface="Pretendard" pitchFamily="34" charset="-120"/>
              </a:rPr>
              <a:t> · 이미지 만들기 → 저장</a:t>
            </a:r>
            <a:endParaRPr lang="en-US" sz="1300" dirty="0"/>
          </a:p>
        </p:txBody>
      </p:sp>
      <p:sp>
        <p:nvSpPr>
          <p:cNvPr id="24" name="Text 18"/>
          <p:cNvSpPr/>
          <p:nvPr/>
        </p:nvSpPr>
        <p:spPr>
          <a:xfrm>
            <a:off x="6697452" y="3880458"/>
            <a:ext cx="4453193" cy="408833"/>
          </a:xfrm>
          <a:prstGeom prst="roundRect">
            <a:avLst>
              <a:gd name="adj" fmla="val 18638"/>
            </a:avLst>
          </a:prstGeom>
          <a:solidFill>
            <a:srgbClr val="062478"/>
          </a:solidFill>
          <a:ln/>
        </p:spPr>
        <p:txBody>
          <a:bodyPr wrap="square" lIns="130082" tIns="66582" rIns="5630" bIns="41182" rtlCol="0" anchor="t">
            <a:normAutofit/>
          </a:bodyPr>
          <a:lstStyle/>
          <a:p>
            <a:pPr marL="0" indent="0" algn="l">
              <a:lnSpc>
                <a:spcPts val="1820"/>
              </a:lnSpc>
              <a:buNone/>
            </a:pPr>
            <a:r>
              <a:rPr lang="en-US" sz="1300" b="1" dirty="0">
                <a:solidFill>
                  <a:srgbClr val="FFFFFF"/>
                </a:solidFill>
                <a:latin typeface="Pretendard" pitchFamily="34" charset="0"/>
                <a:ea typeface="Pretendard" pitchFamily="34" charset="-122"/>
                <a:cs typeface="Pretendard" pitchFamily="34" charset="-120"/>
              </a:rPr>
              <a:t>콘텐츠 이미지</a:t>
            </a:r>
            <a:r>
              <a:rPr lang="en-US" sz="1300" dirty="0">
                <a:solidFill>
                  <a:srgbClr val="FFFFFF"/>
                </a:solidFill>
                <a:latin typeface="Pretendard" pitchFamily="34" charset="0"/>
                <a:ea typeface="Pretendard" pitchFamily="34" charset="-122"/>
                <a:cs typeface="Pretendard" pitchFamily="34" charset="-120"/>
              </a:rPr>
              <a:t> · 수정 → PC·모바일 저장</a:t>
            </a:r>
            <a:endParaRPr lang="en-US" sz="1300" dirty="0"/>
          </a:p>
        </p:txBody>
      </p:sp>
      <p:sp>
        <p:nvSpPr>
          <p:cNvPr id="25" name="Text 19"/>
          <p:cNvSpPr/>
          <p:nvPr/>
        </p:nvSpPr>
        <p:spPr>
          <a:xfrm>
            <a:off x="6697452" y="4352764"/>
            <a:ext cx="4453193" cy="408833"/>
          </a:xfrm>
          <a:prstGeom prst="roundRect">
            <a:avLst>
              <a:gd name="adj" fmla="val 18638"/>
            </a:avLst>
          </a:prstGeom>
          <a:solidFill>
            <a:srgbClr val="062478"/>
          </a:solidFill>
          <a:ln/>
        </p:spPr>
        <p:txBody>
          <a:bodyPr wrap="square" lIns="130082" tIns="66582" rIns="5630" bIns="41182" rtlCol="0" anchor="t">
            <a:normAutofit/>
          </a:bodyPr>
          <a:lstStyle/>
          <a:p>
            <a:pPr marL="0" indent="0" algn="l">
              <a:lnSpc>
                <a:spcPts val="1820"/>
              </a:lnSpc>
              <a:buNone/>
            </a:pPr>
            <a:r>
              <a:rPr lang="en-US" sz="1300" b="1" dirty="0">
                <a:solidFill>
                  <a:srgbClr val="FFFFFF"/>
                </a:solidFill>
                <a:latin typeface="Pretendard" pitchFamily="34" charset="0"/>
                <a:ea typeface="Pretendard" pitchFamily="34" charset="-122"/>
                <a:cs typeface="Pretendard" pitchFamily="34" charset="-120"/>
              </a:rPr>
              <a:t>리드마그넷 PDF</a:t>
            </a:r>
            <a:r>
              <a:rPr lang="en-US" sz="1300" dirty="0">
                <a:solidFill>
                  <a:srgbClr val="FFFFFF"/>
                </a:solidFill>
                <a:latin typeface="Pretendard" pitchFamily="34" charset="0"/>
                <a:ea typeface="Pretendard" pitchFamily="34" charset="-122"/>
                <a:cs typeface="Pretendard" pitchFamily="34" charset="-120"/>
              </a:rPr>
              <a:t> · 표지 그림 → PDF 저장</a:t>
            </a:r>
            <a:endParaRPr lang="en-US" sz="1300" dirty="0"/>
          </a:p>
        </p:txBody>
      </p:sp>
      <p:sp>
        <p:nvSpPr>
          <p:cNvPr id="26" name="Text 20"/>
          <p:cNvSpPr/>
          <p:nvPr/>
        </p:nvSpPr>
        <p:spPr>
          <a:xfrm>
            <a:off x="812774" y="5831911"/>
            <a:ext cx="10883437"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76E71"/>
                </a:solidFill>
                <a:latin typeface="Pretendard" pitchFamily="34" charset="0"/>
                <a:ea typeface="Pretendard" pitchFamily="34" charset="-122"/>
                <a:cs typeface="Pretendard" pitchFamily="34" charset="-120"/>
              </a:rPr>
              <a:t>스킬 등록: claude.ai › 설정 › 기능 › 스킬에서 AX팀이 드린 파일 업로드 · 사용은 AX팀이 지원합니다</a:t>
            </a:r>
            <a:endParaRPr lang="en-US" sz="1200" dirty="0"/>
          </a:p>
        </p:txBody>
      </p:sp>
    </p:spTree>
  </p:cSld>
  <p:clrMapOvr>
    <a:masterClrMapping/>
  </p:clrMapOvr>
</p:sld>
</file>

<file path=ppt/theme/theme1.xml><?xml version="1.0" encoding="utf-8"?>
<a:theme xmlns:a="http://schemas.openxmlformats.org/drawingml/2006/main" name="뉴스레터 효율화 · 벤치마킹">
  <a:themeElements>
    <a:clrScheme name="뉴스레터 효율화 · 벤치마킹">
      <a:dk1>
        <a:srgbClr val="031552"/>
      </a:dk1>
      <a:lt1>
        <a:srgbClr val="F5FBFF"/>
      </a:lt1>
      <a:dk2>
        <a:srgbClr val="404F7D"/>
      </a:dk2>
      <a:lt2>
        <a:srgbClr val="DDE4EE"/>
      </a:lt2>
      <a:accent1>
        <a:srgbClr val="2F74EB"/>
      </a:accent1>
      <a:accent2>
        <a:srgbClr val="ADD3FF"/>
      </a:accent2>
      <a:accent3>
        <a:srgbClr val="0AC262"/>
      </a:accent3>
      <a:accent4>
        <a:srgbClr val="062478"/>
      </a:accent4>
      <a:accent5>
        <a:srgbClr val="1D55C4"/>
      </a:accent5>
      <a:accent6>
        <a:srgbClr val="D6EAFF"/>
      </a:accent6>
      <a:hlink>
        <a:srgbClr val="0563C1"/>
      </a:hlink>
      <a:folHlink>
        <a:srgbClr val="954F72"/>
      </a:folHlink>
    </a:clrScheme>
    <a:fontScheme name="뉴스레터 효율화 · 벤치마킹">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1100</Words>
  <Application>Microsoft Macintosh PowerPoint</Application>
  <PresentationFormat>와이드스크린</PresentationFormat>
  <Paragraphs>137</Paragraphs>
  <Slides>11</Slides>
  <Notes>11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Pretendard</vt:lpstr>
      <vt:lpstr>Arial</vt:lpstr>
      <vt:lpstr>뉴스레터 효율화 · 벤치마킹</vt:lpstr>
      <vt:lpstr>뉴스레터,이제 기획안이 디자인으로 완성됩니다</vt:lpstr>
      <vt:lpstr>뉴스레터는 누가 읽고, 왜 필요한가요?</vt:lpstr>
      <vt:lpstr>수정 하나에도 기다림이 생깁니다</vt:lpstr>
      <vt:lpstr>쉽게 설계된 툴의 장점만 모았습니다</vt:lpstr>
      <vt:lpstr>Canva — 빈 캔버스에 자유롭게 배치한다</vt:lpstr>
      <vt:lpstr>스티비 — 정해진 칸을 위에서부터 쌓는다</vt:lpstr>
      <vt:lpstr>두 툴의 장점 + 뉴스레터 전용 기능</vt:lpstr>
      <vt:lpstr>원하는 결과물을 쉽게 만들고, 수정도 편하게</vt:lpstr>
      <vt:lpstr>우리 툴의 장점</vt:lpstr>
      <vt:lpstr>뉴스레터는 세 가지로 만들어집니다</vt:lpstr>
      <vt:lpstr>Claude가 만들고, 편집 툴에서 완성합니다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뉴스레터 효율화 · 벤치마킹</dc:title>
  <dc:subject/>
  <dc:creator/>
  <cp:lastModifiedBy>심은진 (Eunjin Shim)</cp:lastModifiedBy>
  <cp:revision>2</cp:revision>
  <dcterms:created xsi:type="dcterms:W3CDTF">2026-10-21T09:18:33Z</dcterms:created>
  <dcterms:modified xsi:type="dcterms:W3CDTF">2026-10-21T09:22:11Z</dcterms:modified>
</cp:coreProperties>
</file>