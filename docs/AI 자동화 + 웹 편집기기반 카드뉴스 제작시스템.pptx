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5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FE6"/>
    <a:srgbClr val="E8F8EF"/>
    <a:srgbClr val="C2ED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3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0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94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524BB-CCEB-54A3-18DC-5582FDBF1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B12CB-BD2D-49C3-C523-169E35A68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9B069-9D7C-28EA-5553-1437576DA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7AA10-EFCC-223C-EBCF-A88B002E3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03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3482-23C2-57EF-12C4-5CCD57C6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CECD2-B6BF-9047-E20C-348BFFBE1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26284-653B-C64F-2FBC-158BED732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EF96-A3DC-1195-88B3-A064FD974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22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8C65-71C8-3265-2247-7D24266E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FC457-FD16-9FF4-9EB2-494BE6287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AC498-353A-7460-ECA2-F1249E96C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81C88-1761-10A4-829E-95AF63B4A5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51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Pretendard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Pretendard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Pretendard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A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86319" y="1643466"/>
            <a:ext cx="45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자동화 + 웹 편집기 기반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6319" y="2330493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kern="0" spc="-10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카드뉴스</a:t>
            </a:r>
            <a:r>
              <a:rPr lang="en-US" sz="4000" b="1" kern="0" spc="-1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4000" b="1" kern="0" spc="-100" smtClean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</a:t>
            </a:r>
            <a:r>
              <a:rPr lang="ko-KR" altLang="en-US" sz="4000" b="1" kern="0" spc="-100" smtClean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활용안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37A3D"/>
          </a:solidFill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46817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GC Care AX </a:t>
            </a:r>
            <a:r>
              <a:rPr lang="ko-KR" altLang="en-US" sz="1200" dirty="0">
                <a:solidFill>
                  <a:srgbClr val="FFFFFF"/>
                </a:solidFill>
              </a:rPr>
              <a:t>팀</a:t>
            </a:r>
            <a:r>
              <a:rPr lang="en-US" sz="1200" dirty="0">
                <a:solidFill>
                  <a:srgbClr val="FFFFFF"/>
                </a:solidFill>
              </a:rPr>
              <a:t>  |  </a:t>
            </a:r>
            <a:r>
              <a:rPr lang="ko-KR" altLang="en-US" sz="1200" dirty="0">
                <a:solidFill>
                  <a:srgbClr val="FFFFFF"/>
                </a:solidFill>
              </a:rPr>
              <a:t>심은진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D3517A6-D0C5-6C15-741C-B34A05032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592" y="244375"/>
            <a:ext cx="1160337" cy="313709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C14140B1-EE74-E8EF-0EAB-BE7843BAF409}"/>
              </a:ext>
            </a:extLst>
          </p:cNvPr>
          <p:cNvSpPr/>
          <p:nvPr/>
        </p:nvSpPr>
        <p:spPr>
          <a:xfrm>
            <a:off x="8082315" y="4769881"/>
            <a:ext cx="993872" cy="258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200" dirty="0">
                <a:solidFill>
                  <a:srgbClr val="FFFFFF"/>
                </a:solidFill>
              </a:rPr>
              <a:t>2026.06.01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2918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AB55"/>
                </a:solidFill>
              </a:rPr>
              <a:t>01  문제 정의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방식의 구조적 한계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2606040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928859" y="2244852"/>
            <a:ext cx="4399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개</a:t>
            </a:r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4F0E3"/>
                </a:solidFill>
              </a:rPr>
              <a:t>전체 디자인 작업 단위</a:t>
            </a:r>
            <a:endParaRPr lang="en-US" sz="1100" dirty="0"/>
          </a:p>
          <a:p>
            <a:pPr marL="0" indent="0" algn="l">
              <a:buNone/>
            </a:pPr>
            <a:r>
              <a:rPr lang="ko-KR" altLang="en-US" sz="1100" dirty="0">
                <a:solidFill>
                  <a:srgbClr val="D4F0E3"/>
                </a:solidFill>
              </a:rPr>
              <a:t>간 콘텐츠 </a:t>
            </a:r>
            <a:r>
              <a:rPr lang="en-US" sz="1100" dirty="0">
                <a:solidFill>
                  <a:srgbClr val="D4F0E3"/>
                </a:solidFill>
              </a:rPr>
              <a:t>26개 카드 × 7컷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51760" cy="2606040"/>
          </a:xfrm>
          <a:prstGeom prst="rect">
            <a:avLst/>
          </a:prstGeom>
          <a:solidFill>
            <a:srgbClr val="0F1F14"/>
          </a:solidFill>
          <a:ln w="12700">
            <a:solidFill>
              <a:srgbClr val="0F1F14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2900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altLang="ko-KR" sz="6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306299" y="2205990"/>
            <a:ext cx="374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일</a:t>
            </a:r>
          </a:p>
        </p:txBody>
      </p:sp>
      <p:sp>
        <p:nvSpPr>
          <p:cNvPr id="12" name="Text 10"/>
          <p:cNvSpPr/>
          <p:nvPr/>
        </p:nvSpPr>
        <p:spPr>
          <a:xfrm>
            <a:off x="3429000" y="2926080"/>
            <a:ext cx="2377440" cy="57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ko-KR" sz="1100" dirty="0">
                <a:solidFill>
                  <a:srgbClr val="D4F0E3"/>
                </a:solidFill>
              </a:rPr>
              <a:t>9</a:t>
            </a:r>
            <a:r>
              <a:rPr lang="ko-KR" altLang="en-US" sz="1100" dirty="0">
                <a:solidFill>
                  <a:srgbClr val="D4F0E3"/>
                </a:solidFill>
              </a:rPr>
              <a:t>일 제작</a:t>
            </a:r>
            <a:r>
              <a:rPr lang="en-US" altLang="ko-KR" sz="1100" dirty="0">
                <a:solidFill>
                  <a:srgbClr val="D4F0E3"/>
                </a:solidFill>
              </a:rPr>
              <a:t>+1</a:t>
            </a:r>
            <a:r>
              <a:rPr lang="ko-KR" altLang="en-US" sz="1100" dirty="0">
                <a:solidFill>
                  <a:srgbClr val="D4F0E3"/>
                </a:solidFill>
              </a:rPr>
              <a:t>일 수정</a:t>
            </a:r>
            <a:r>
              <a:rPr lang="en-US" altLang="ko-KR" sz="1100" dirty="0">
                <a:solidFill>
                  <a:srgbClr val="D4F0E3"/>
                </a:solidFill>
              </a:rPr>
              <a:t/>
            </a:r>
            <a:br>
              <a:rPr lang="en-US" altLang="ko-KR" sz="1100" dirty="0">
                <a:solidFill>
                  <a:srgbClr val="D4F0E3"/>
                </a:solidFill>
              </a:rPr>
            </a:br>
            <a:r>
              <a:rPr lang="en-US" sz="1100" dirty="0" err="1">
                <a:solidFill>
                  <a:srgbClr val="D4F0E3"/>
                </a:solidFill>
              </a:rPr>
              <a:t>디자이너</a:t>
            </a:r>
            <a:r>
              <a:rPr lang="en-US" sz="1100" dirty="0">
                <a:solidFill>
                  <a:srgbClr val="D4F0E3"/>
                </a:solidFill>
              </a:rPr>
              <a:t> 순수 제작 소요일</a:t>
            </a:r>
            <a:endParaRPr lang="en-US" sz="1100" dirty="0"/>
          </a:p>
          <a:p>
            <a:r>
              <a:rPr lang="en-US" sz="1100" dirty="0">
                <a:solidFill>
                  <a:srgbClr val="D4F0E3"/>
                </a:solidFill>
              </a:rPr>
              <a:t>1인 하루 20컷 </a:t>
            </a:r>
            <a:r>
              <a:rPr lang="en-US" sz="1100" dirty="0" err="1">
                <a:solidFill>
                  <a:srgbClr val="D4F0E3"/>
                </a:solidFill>
              </a:rPr>
              <a:t>기준</a:t>
            </a:r>
            <a:r>
              <a:rPr lang="en-US" sz="1100" dirty="0">
                <a:solidFill>
                  <a:srgbClr val="D4F0E3"/>
                </a:solidFill>
              </a:rPr>
              <a:t/>
            </a:r>
            <a:br>
              <a:rPr lang="en-US" sz="1100" dirty="0">
                <a:solidFill>
                  <a:srgbClr val="D4F0E3"/>
                </a:solidFill>
              </a:rPr>
            </a:b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2606040"/>
          </a:xfrm>
          <a:prstGeom prst="rect">
            <a:avLst/>
          </a:prstGeom>
          <a:solidFill>
            <a:srgbClr val="037A3D"/>
          </a:solidFill>
          <a:ln w="12700">
            <a:solidFill>
              <a:srgbClr val="037A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63640" y="1724457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696302" y="211912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 err="1">
                <a:solidFill>
                  <a:schemeClr val="bg1"/>
                </a:solidFill>
              </a:rPr>
              <a:t>수정</a:t>
            </a:r>
            <a:r>
              <a:rPr lang="en-US" sz="1600" dirty="0">
                <a:solidFill>
                  <a:schemeClr val="bg1"/>
                </a:solidFill>
              </a:rPr>
              <a:t> 多</a:t>
            </a:r>
          </a:p>
        </p:txBody>
      </p:sp>
      <p:sp>
        <p:nvSpPr>
          <p:cNvPr id="16" name="Text 14"/>
          <p:cNvSpPr/>
          <p:nvPr/>
        </p:nvSpPr>
        <p:spPr>
          <a:xfrm>
            <a:off x="626364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4F0E3"/>
                </a:solidFill>
              </a:rPr>
              <a:t>수정 요청 대부분이 텍스트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4F0E3"/>
                </a:solidFill>
              </a:rPr>
              <a:t>디자이너가 단순 수정에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4F0E3"/>
                </a:solidFill>
              </a:rPr>
              <a:t>반복 투입되는 비효율 구조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8229600" cy="594360"/>
          </a:xfrm>
          <a:prstGeom prst="rect">
            <a:avLst/>
          </a:prstGeom>
          <a:solidFill>
            <a:srgbClr val="E8F8E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5770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4288536"/>
            <a:ext cx="579294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37A3D"/>
                </a:solidFill>
              </a:rPr>
              <a:t>담당자가 직접 텍스트를 수정·적용할 수 있는 구조가 필요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2918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AB55"/>
                </a:solidFill>
              </a:rPr>
              <a:t>02  솔루션 — AI 자동화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pipeline.py 한 번 실행으로 완성본까지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474720" cy="3337560"/>
          </a:xfrm>
          <a:prstGeom prst="rect">
            <a:avLst/>
          </a:prstGeom>
          <a:solidFill>
            <a:srgbClr val="0F1F14"/>
          </a:solidFill>
          <a:ln w="12700">
            <a:solidFill>
              <a:srgbClr val="0F1F14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4"/>
          <p:cNvSpPr/>
          <p:nvPr/>
        </p:nvSpPr>
        <p:spPr>
          <a:xfrm>
            <a:off x="685800" y="1719072"/>
            <a:ext cx="548640" cy="548640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33" y="18013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19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AI 자동화 주요 기능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76656" y="2516886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14400" y="2404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엑셀 기획서 → 카드 데이터 자동 파싱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895149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276713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표지 이미지 생성  GPT-image-1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" y="3313258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14400" y="317849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섹션 이미지 생성  Gemini 2.5 Flash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3719079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14400" y="358371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HTML 템플릿에 이미지 자동 주입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4136573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14400" y="3995067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4F0E3"/>
                </a:solidFill>
              </a:rPr>
              <a:t>결과물</a:t>
            </a:r>
            <a:r>
              <a:rPr lang="en-US" sz="1000" dirty="0">
                <a:solidFill>
                  <a:srgbClr val="D4F0E3"/>
                </a:solidFill>
              </a:rPr>
              <a:t> </a:t>
            </a:r>
            <a:r>
              <a:rPr lang="en-US" sz="1000" dirty="0" err="1">
                <a:solidFill>
                  <a:srgbClr val="D4F0E3"/>
                </a:solidFill>
              </a:rPr>
              <a:t>검수</a:t>
            </a:r>
            <a:r>
              <a:rPr lang="en-US" sz="1000" dirty="0">
                <a:solidFill>
                  <a:srgbClr val="D4F0E3"/>
                </a:solidFill>
              </a:rPr>
              <a:t> </a:t>
            </a:r>
            <a:r>
              <a:rPr lang="en-US" sz="1000" dirty="0" err="1">
                <a:solidFill>
                  <a:srgbClr val="D4F0E3"/>
                </a:solidFill>
              </a:rPr>
              <a:t>및</a:t>
            </a:r>
            <a:r>
              <a:rPr lang="en-US" sz="1000" dirty="0">
                <a:solidFill>
                  <a:srgbClr val="D4F0E3"/>
                </a:solidFill>
              </a:rPr>
              <a:t> </a:t>
            </a:r>
            <a:r>
              <a:rPr lang="en-US" sz="1000" dirty="0" err="1">
                <a:solidFill>
                  <a:srgbClr val="D4F0E3"/>
                </a:solidFill>
              </a:rPr>
              <a:t>WebP</a:t>
            </a:r>
            <a:r>
              <a:rPr lang="en-US" sz="1000" dirty="0">
                <a:solidFill>
                  <a:srgbClr val="D4F0E3"/>
                </a:solidFill>
              </a:rPr>
              <a:t> </a:t>
            </a:r>
            <a:r>
              <a:rPr lang="en-US" sz="1000" dirty="0" err="1">
                <a:solidFill>
                  <a:srgbClr val="D4F0E3"/>
                </a:solidFill>
              </a:rPr>
              <a:t>변환·저장</a:t>
            </a:r>
            <a:r>
              <a:rPr lang="en-US" altLang="ko-KR" sz="1000" dirty="0">
                <a:solidFill>
                  <a:srgbClr val="D4F0E3"/>
                </a:solidFill>
              </a:rPr>
              <a:t>(96%</a:t>
            </a:r>
            <a:r>
              <a:rPr lang="ko-KR" altLang="en-US" sz="1000" dirty="0">
                <a:solidFill>
                  <a:srgbClr val="D4F0E3"/>
                </a:solidFill>
              </a:rPr>
              <a:t> 압축</a:t>
            </a:r>
            <a:r>
              <a:rPr lang="en-US" altLang="ko-KR" sz="1000" dirty="0">
                <a:solidFill>
                  <a:srgbClr val="D4F0E3"/>
                </a:solidFill>
              </a:rPr>
              <a:t>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51960" y="1536192"/>
            <a:ext cx="4572000" cy="3337560"/>
          </a:xfrm>
          <a:prstGeom prst="rect">
            <a:avLst/>
          </a:prstGeom>
          <a:solidFill>
            <a:srgbClr val="E8F8E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434840" y="1627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7A3D"/>
                </a:solidFill>
              </a:rPr>
              <a:t>스크립트 구조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303520" y="2084832"/>
            <a:ext cx="2834640" cy="438912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303520" y="20848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pipeline.py  (전체 실행)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20840" y="2523744"/>
            <a:ext cx="0" cy="201168"/>
          </a:xfrm>
          <a:prstGeom prst="line">
            <a:avLst/>
          </a:prstGeom>
          <a:noFill/>
          <a:ln w="1905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029200" y="2880360"/>
            <a:ext cx="256032" cy="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5303520" y="2706624"/>
            <a:ext cx="2103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321808" y="27249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37A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generate_images.py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52360" y="27249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표지 이미지 생성 (GPT-image-1)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029200" y="3054096"/>
            <a:ext cx="0" cy="9144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5029200" y="3300984"/>
            <a:ext cx="256032" cy="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5285232" y="3145536"/>
            <a:ext cx="2103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321808" y="314553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37A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generate_card_images.py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452360" y="31455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섹션 이미지 생성 (Gemini)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029200" y="3474720"/>
            <a:ext cx="0" cy="9144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029200" y="3721608"/>
            <a:ext cx="256032" cy="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5285232" y="3566160"/>
            <a:ext cx="2103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321808" y="35661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37A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inject_images.py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452360" y="3566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HTML에 이미지 자동 주입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029200" y="3895344"/>
            <a:ext cx="0" cy="9144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5029200" y="4142232"/>
            <a:ext cx="256032" cy="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5285232" y="3986784"/>
            <a:ext cx="2103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321808" y="39867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37A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validate_cards.py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7452360" y="39867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결과물 검수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029200" y="4315968"/>
            <a:ext cx="0" cy="9144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5029200" y="4562856"/>
            <a:ext cx="256032" cy="0"/>
          </a:xfrm>
          <a:prstGeom prst="line">
            <a:avLst/>
          </a:prstGeom>
          <a:noFill/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5285232" y="4407408"/>
            <a:ext cx="2103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321808" y="44074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37A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convert_to_webp.py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452360" y="44074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WebP 변환 및 저장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343400" y="2084832"/>
            <a:ext cx="914400" cy="438912"/>
          </a:xfrm>
          <a:prstGeom prst="rect">
            <a:avLst/>
          </a:prstGeom>
          <a:solidFill>
            <a:srgbClr val="037A3D"/>
          </a:solidFill>
          <a:ln w="1270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4343400" y="20848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엑셀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기획서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257800" y="2304288"/>
            <a:ext cx="45720" cy="0"/>
          </a:xfrm>
          <a:prstGeom prst="line">
            <a:avLst/>
          </a:prstGeom>
          <a:noFill/>
          <a:ln w="19050">
            <a:solidFill>
              <a:srgbClr val="037A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1C595855-7DCF-A389-28E3-A37700F51D0D}"/>
              </a:ext>
            </a:extLst>
          </p:cNvPr>
          <p:cNvSpPr/>
          <p:nvPr/>
        </p:nvSpPr>
        <p:spPr>
          <a:xfrm>
            <a:off x="676656" y="4569601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CA440B05-3450-9166-4877-2B4FCE2FDAE6}"/>
              </a:ext>
            </a:extLst>
          </p:cNvPr>
          <p:cNvSpPr/>
          <p:nvPr/>
        </p:nvSpPr>
        <p:spPr>
          <a:xfrm>
            <a:off x="914400" y="44737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D4F0E3"/>
                </a:solidFill>
              </a:rPr>
              <a:t>JPG </a:t>
            </a:r>
            <a:r>
              <a:rPr lang="en-US" altLang="ko-KR" sz="1000" dirty="0" err="1">
                <a:solidFill>
                  <a:srgbClr val="D4F0E3"/>
                </a:solidFill>
              </a:rPr>
              <a:t>내보내기</a:t>
            </a:r>
            <a:r>
              <a:rPr lang="en-US" altLang="ko-KR" sz="1000" dirty="0">
                <a:solidFill>
                  <a:srgbClr val="D4F0E3"/>
                </a:solidFill>
              </a:rPr>
              <a:t>:</a:t>
            </a:r>
            <a:r>
              <a:rPr lang="ko-KR" altLang="en-US" sz="1000" dirty="0">
                <a:solidFill>
                  <a:srgbClr val="D4F0E3"/>
                </a:solidFill>
              </a:rPr>
              <a:t> 모바일 적용  최적화 </a:t>
            </a:r>
            <a:r>
              <a:rPr lang="en-US" altLang="ko-KR" sz="1000" dirty="0">
                <a:solidFill>
                  <a:srgbClr val="D4F0E3"/>
                </a:solidFill>
              </a:rPr>
              <a:t>3</a:t>
            </a:r>
            <a:r>
              <a:rPr lang="ko-KR" altLang="en-US" sz="1000" dirty="0">
                <a:solidFill>
                  <a:srgbClr val="D4F0E3"/>
                </a:solidFill>
              </a:rPr>
              <a:t>배수로 내보내기 기능 구현</a:t>
            </a:r>
            <a:endParaRPr lang="en-US" altLang="ko-K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2918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AB55"/>
                </a:solidFill>
              </a:rPr>
              <a:t>02  솔루션 — 웹 편집기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브라우저에서 바로 수정 · 담당자 직접 운영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1" y="1536192"/>
            <a:ext cx="3562478" cy="3337560"/>
          </a:xfrm>
          <a:prstGeom prst="rect">
            <a:avLst/>
          </a:prstGeom>
          <a:solidFill>
            <a:srgbClr val="0F1F14"/>
          </a:solidFill>
          <a:ln w="12700">
            <a:solidFill>
              <a:srgbClr val="0F1F14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33335" y="1719072"/>
            <a:ext cx="548640" cy="548640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51" y="181351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19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편집기 구조 및 기능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98640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14400" y="2404872"/>
            <a:ext cx="2394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설치 없이 브라우저에서 즉시 실행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886161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43857" y="2788920"/>
            <a:ext cx="2394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카드 번호 선택 → 해당 카드 편집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" y="3264072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14400" y="3172968"/>
            <a:ext cx="2394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텍스트 직접 수정 (실시간 반영)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3679458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14400" y="3557016"/>
            <a:ext cx="2394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이미지 교체  붙여넣기 / 드래그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4463715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65306" y="4408851"/>
            <a:ext cx="2282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JPG </a:t>
            </a:r>
            <a:r>
              <a:rPr lang="en-US" sz="1000" dirty="0" err="1">
                <a:solidFill>
                  <a:srgbClr val="D4F0E3"/>
                </a:solidFill>
              </a:rPr>
              <a:t>내보내기</a:t>
            </a:r>
            <a:r>
              <a:rPr lang="ko-KR" altLang="en-US" sz="1000" dirty="0">
                <a:solidFill>
                  <a:srgbClr val="D4F0E3"/>
                </a:solidFill>
              </a:rPr>
              <a:t> </a:t>
            </a:r>
            <a:r>
              <a:rPr lang="en-US" altLang="ko-KR" sz="1000" dirty="0">
                <a:solidFill>
                  <a:srgbClr val="D4F0E3"/>
                </a:solidFill>
              </a:rPr>
              <a:t>(</a:t>
            </a:r>
            <a:r>
              <a:rPr lang="ko-KR" altLang="en-US" sz="1000" dirty="0">
                <a:solidFill>
                  <a:srgbClr val="D4F0E3"/>
                </a:solidFill>
              </a:rPr>
              <a:t>모바일 적용  최적화 </a:t>
            </a:r>
            <a:r>
              <a:rPr lang="en-US" altLang="ko-KR" sz="1000" dirty="0">
                <a:solidFill>
                  <a:srgbClr val="D4F0E3"/>
                </a:solidFill>
              </a:rPr>
              <a:t>3</a:t>
            </a:r>
            <a:r>
              <a:rPr lang="ko-KR" altLang="en-US" sz="1000" dirty="0">
                <a:solidFill>
                  <a:srgbClr val="D4F0E3"/>
                </a:solidFill>
              </a:rPr>
              <a:t>배수로 내보내기 기능 구현</a:t>
            </a:r>
            <a:r>
              <a:rPr lang="en-US" altLang="ko-KR" sz="1000" dirty="0">
                <a:solidFill>
                  <a:srgbClr val="D4F0E3"/>
                </a:solidFill>
              </a:rPr>
              <a:t>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4068518"/>
            <a:ext cx="109728" cy="10972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914400" y="3952213"/>
            <a:ext cx="2394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F0E3"/>
                </a:solidFill>
              </a:rPr>
              <a:t>단일 HTML 파일로 편집·저장 일체형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87892" y="1536192"/>
            <a:ext cx="4436067" cy="3337560"/>
          </a:xfrm>
          <a:prstGeom prst="rect">
            <a:avLst/>
          </a:prstGeom>
          <a:solidFill>
            <a:srgbClr val="F4F7F5"/>
          </a:solidFill>
          <a:ln w="12700">
            <a:solidFill>
              <a:srgbClr val="D8E8E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2477A86-D1D3-8A90-A3FC-F129F6A0E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338" y="1547269"/>
            <a:ext cx="3054350" cy="3315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FDA7C-95D0-0B89-D4AA-D749B5EE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78E73FB-35E9-4066-A69D-34A397868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310" y="0"/>
            <a:ext cx="1670050" cy="5143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D49A5C4-272B-2DF3-60F7-DF07368D9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997" y="0"/>
            <a:ext cx="1635720" cy="51435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AB082320-DF40-4CD8-6F3C-6A7CF383B53F}"/>
              </a:ext>
            </a:extLst>
          </p:cNvPr>
          <p:cNvSpPr/>
          <p:nvPr/>
        </p:nvSpPr>
        <p:spPr>
          <a:xfrm>
            <a:off x="457200" y="347472"/>
            <a:ext cx="54864" cy="32918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30ED0B6-2085-0FBF-C3BA-A6BF4E23A559}"/>
              </a:ext>
            </a:extLst>
          </p:cNvPr>
          <p:cNvSpPr/>
          <p:nvPr/>
        </p:nvSpPr>
        <p:spPr>
          <a:xfrm>
            <a:off x="594360" y="3474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AB55"/>
                </a:solidFill>
              </a:rPr>
              <a:t>02  솔루션 — </a:t>
            </a:r>
            <a:r>
              <a:rPr lang="ko-KR" altLang="en-US" sz="1300" b="1" dirty="0">
                <a:solidFill>
                  <a:srgbClr val="05AB55"/>
                </a:solidFill>
              </a:rPr>
              <a:t>콘텐츠</a:t>
            </a:r>
            <a:r>
              <a:rPr lang="en-US" altLang="ko-KR" sz="1300" b="1" dirty="0">
                <a:solidFill>
                  <a:srgbClr val="05AB55"/>
                </a:solidFill>
              </a:rPr>
              <a:t> (</a:t>
            </a:r>
            <a:r>
              <a:rPr lang="ko-KR" altLang="en-US" sz="1300" b="1" dirty="0" err="1">
                <a:solidFill>
                  <a:srgbClr val="05AB55"/>
                </a:solidFill>
              </a:rPr>
              <a:t>홀수호</a:t>
            </a:r>
            <a:r>
              <a:rPr lang="en-US" altLang="ko-KR" sz="1300" b="1" dirty="0">
                <a:solidFill>
                  <a:srgbClr val="05AB55"/>
                </a:solidFill>
              </a:rPr>
              <a:t>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7533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DF9AA-A864-16F3-21C0-1D206993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74473C7-FA8D-E7CA-CC38-A7AD0A16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998" y="0"/>
            <a:ext cx="1695017" cy="514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B3072D-0CA5-5828-98C3-112E51A81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947" y="0"/>
            <a:ext cx="1619019" cy="51435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E9B5A64E-E0BB-BF1A-778A-1EEB2DFCA22B}"/>
              </a:ext>
            </a:extLst>
          </p:cNvPr>
          <p:cNvSpPr/>
          <p:nvPr/>
        </p:nvSpPr>
        <p:spPr>
          <a:xfrm>
            <a:off x="457200" y="347472"/>
            <a:ext cx="54864" cy="32918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A1006EB-CAAA-1C36-05E0-8E5DB9498D68}"/>
              </a:ext>
            </a:extLst>
          </p:cNvPr>
          <p:cNvSpPr/>
          <p:nvPr/>
        </p:nvSpPr>
        <p:spPr>
          <a:xfrm>
            <a:off x="594360" y="3474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AB55"/>
                </a:solidFill>
              </a:rPr>
              <a:t>02  솔루션 — </a:t>
            </a:r>
            <a:r>
              <a:rPr lang="ko-KR" altLang="en-US" sz="1300" b="1" dirty="0">
                <a:solidFill>
                  <a:srgbClr val="05AB55"/>
                </a:solidFill>
              </a:rPr>
              <a:t>콘텐츠</a:t>
            </a:r>
            <a:r>
              <a:rPr lang="en-US" altLang="ko-KR" sz="1300" b="1" dirty="0">
                <a:solidFill>
                  <a:srgbClr val="05AB55"/>
                </a:solidFill>
              </a:rPr>
              <a:t> (</a:t>
            </a:r>
            <a:r>
              <a:rPr lang="ko-KR" altLang="en-US" sz="1300" b="1" dirty="0" err="1">
                <a:solidFill>
                  <a:srgbClr val="05AB55"/>
                </a:solidFill>
              </a:rPr>
              <a:t>짝수호</a:t>
            </a:r>
            <a:r>
              <a:rPr lang="en-US" altLang="ko-KR" sz="1300" b="1" dirty="0">
                <a:solidFill>
                  <a:srgbClr val="05AB55"/>
                </a:solidFill>
              </a:rPr>
              <a:t>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56138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-45720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347472"/>
            <a:ext cx="54864" cy="32918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AB55"/>
                </a:solidFill>
              </a:rPr>
              <a:t>03  핵심 성과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핵심 지표로 증명된 효과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120640" cy="3337560"/>
          </a:xfrm>
          <a:prstGeom prst="rect">
            <a:avLst/>
          </a:prstGeom>
          <a:solidFill>
            <a:srgbClr val="172E20"/>
          </a:solidFill>
          <a:ln w="12700">
            <a:solidFill>
              <a:srgbClr val="1E3D28"/>
            </a:solidFill>
            <a:prstDash val="solid"/>
          </a:ln>
          <a:effectLst>
            <a:outerShdw blurRad="2032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120640" cy="5486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475488" cy="47548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556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43584" y="1691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D5B8"/>
                </a:solidFill>
              </a:rPr>
              <a:t>제작 기간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18689" y="222529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BEFORE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195679" y="244474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B8F7A"/>
                </a:solidFill>
              </a:rPr>
              <a:t>9~11일</a:t>
            </a:r>
            <a:endParaRPr lang="en-US" sz="2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183276" y="284873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84324" y="34987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AB55"/>
                </a:solidFill>
              </a:rPr>
              <a:t>AFTER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166036" y="3693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1일 이내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3017520" y="2240280"/>
            <a:ext cx="0" cy="2286000"/>
          </a:xfrm>
          <a:prstGeom prst="line">
            <a:avLst/>
          </a:prstGeom>
          <a:noFill/>
          <a:ln w="12700">
            <a:solidFill>
              <a:srgbClr val="2A4A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85800" y="226186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8D5B8"/>
                </a:solidFill>
              </a:rPr>
              <a:t>파이프라인 최초 구현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" y="260019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10일</a:t>
            </a:r>
            <a:endParaRPr lang="en-US" sz="3800" dirty="0"/>
          </a:p>
        </p:txBody>
      </p:sp>
      <p:sp>
        <p:nvSpPr>
          <p:cNvPr id="19" name="Text 15"/>
          <p:cNvSpPr/>
          <p:nvPr/>
        </p:nvSpPr>
        <p:spPr>
          <a:xfrm>
            <a:off x="704088" y="3187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8F7A"/>
                </a:solidFill>
              </a:rPr>
              <a:t>편집기 구현 · 이미지 생성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B8F7A"/>
                </a:solidFill>
              </a:rPr>
              <a:t>프롬프트 테스트 · 오류 검수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85800" y="4065184"/>
            <a:ext cx="2103120" cy="473538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58368" y="3995629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이후 동일 파이프라인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무한 재사용 가능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193467" y="42308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8F7A"/>
                </a:solidFill>
              </a:rPr>
              <a:t>전체 비용  ₩24,000~30,000</a:t>
            </a:r>
            <a:r>
              <a:rPr lang="en-US" altLang="ko-KR" sz="950" dirty="0">
                <a:solidFill>
                  <a:srgbClr val="6B8F7A"/>
                </a:solidFill>
              </a:rPr>
              <a:t>(Api)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690062" y="1515687"/>
            <a:ext cx="2834640" cy="3337560"/>
          </a:xfrm>
          <a:prstGeom prst="rect">
            <a:avLst/>
          </a:prstGeom>
          <a:solidFill>
            <a:srgbClr val="172E20"/>
          </a:solidFill>
          <a:ln w="12700">
            <a:solidFill>
              <a:srgbClr val="1E3D28"/>
            </a:solidFill>
            <a:prstDash val="solid"/>
          </a:ln>
          <a:effectLst>
            <a:outerShdw blurRad="2032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5695604" y="1500447"/>
            <a:ext cx="2834640" cy="5486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080760" y="1691640"/>
            <a:ext cx="475488" cy="475488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75564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56832" y="1691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D5B8"/>
                </a:solidFill>
              </a:rPr>
              <a:t>수정 대응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080760" y="2304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BEFORE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080760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6B8F7A"/>
                </a:solidFill>
              </a:rPr>
              <a:t>디자이너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 err="1">
                <a:solidFill>
                  <a:srgbClr val="6B8F7A"/>
                </a:solidFill>
              </a:rPr>
              <a:t>일정</a:t>
            </a:r>
            <a:r>
              <a:rPr lang="en-US" sz="1800" dirty="0">
                <a:solidFill>
                  <a:srgbClr val="6B8F7A"/>
                </a:solidFill>
              </a:rPr>
              <a:t> </a:t>
            </a:r>
            <a:r>
              <a:rPr lang="en-US" sz="1800" dirty="0" err="1">
                <a:solidFill>
                  <a:srgbClr val="6B8F7A"/>
                </a:solidFill>
              </a:rPr>
              <a:t>의존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117335" y="3196803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080760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AB55"/>
                </a:solidFill>
              </a:rPr>
              <a:t>AFTER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080760" y="3786515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</a:t>
            </a:r>
            <a:r>
              <a:rPr lang="en-US" altLang="ko-KR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br>
              <a:rPr lang="en-US" altLang="ko-KR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28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</a:t>
            </a: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r>
              <a:rPr lang="en-US" sz="28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</a:t>
            </a:r>
            <a:endParaRPr lang="en-US" sz="2800" dirty="0"/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B96CA668-B991-AD7E-5A7C-B24E108B6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2376" y="3715461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2918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AB55"/>
                </a:solidFill>
              </a:rPr>
              <a:t>04  제작 파이프라인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F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→ 완성 이미지, 5단계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554480" cy="3017520"/>
          </a:xfrm>
          <a:prstGeom prst="rect">
            <a:avLst/>
          </a:prstGeom>
          <a:solidFill>
            <a:srgbClr val="F4F7F5"/>
          </a:solidFill>
          <a:ln w="12700">
            <a:solidFill>
              <a:srgbClr val="F4F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5AB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F14"/>
                </a:solidFill>
              </a:rPr>
              <a:t>콘텐츠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0F1F14"/>
                </a:solidFill>
              </a:rPr>
              <a:t>기획서 작성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F14">
                    <a:alpha val="80000"/>
                  </a:srgbClr>
                </a:solidFill>
              </a:rPr>
              <a:t>주제·표지 제목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1F14">
                    <a:alpha val="80000"/>
                  </a:srgbClr>
                </a:solidFill>
              </a:rPr>
              <a:t>섹션 텍스트 정의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38528" y="3063240"/>
            <a:ext cx="109728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66544" y="1554480"/>
            <a:ext cx="1554480" cy="3017520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157984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5AB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57984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F14"/>
                </a:solidFill>
              </a:rPr>
              <a:t>AI 카드뉴스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0F1F14"/>
                </a:solidFill>
              </a:rPr>
              <a:t>자동 생성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57984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F14">
                    <a:alpha val="80000"/>
                  </a:srgbClr>
                </a:solidFill>
              </a:rPr>
              <a:t>기획서 → 완성본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1F14">
                    <a:alpha val="80000"/>
                  </a:srgbClr>
                </a:solidFill>
              </a:rPr>
              <a:t>pipeline.py 실행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39312" y="3063240"/>
            <a:ext cx="109728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67328" y="1554480"/>
            <a:ext cx="1554480" cy="3017520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58768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858768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디자이너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검수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58768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이미지 품질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스타일 확인·재생성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0096" y="3063240"/>
            <a:ext cx="109728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68112" y="1554480"/>
            <a:ext cx="1554480" cy="3017520"/>
          </a:xfrm>
          <a:prstGeom prst="rect">
            <a:avLst/>
          </a:prstGeom>
          <a:solidFill>
            <a:srgbClr val="037A3D"/>
          </a:solidFill>
          <a:ln w="12700">
            <a:solidFill>
              <a:srgbClr val="037A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559552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559552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담당자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편집기 활용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59552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텍스트·이미지 수정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JPG 내보내기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3063240"/>
            <a:ext cx="109728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68896" y="1554480"/>
            <a:ext cx="1554480" cy="3017520"/>
          </a:xfrm>
          <a:prstGeom prst="rect">
            <a:avLst/>
          </a:prstGeom>
          <a:solidFill>
            <a:srgbClr val="0F1F14"/>
          </a:solidFill>
          <a:ln w="12700">
            <a:solidFill>
              <a:srgbClr val="0F1F1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60336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5AB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260336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서비스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적용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60336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CMS 등록 →</a:t>
            </a:r>
            <a:endParaRPr lang="en-US" sz="1000" dirty="0"/>
          </a:p>
          <a:p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URL </a:t>
            </a:r>
            <a:r>
              <a:rPr lang="en-US" sz="1000" dirty="0" err="1">
                <a:solidFill>
                  <a:srgbClr val="FFFFFF">
                    <a:alpha val="80000"/>
                  </a:srgbClr>
                </a:solidFill>
              </a:rPr>
              <a:t>생성</a:t>
            </a:r>
            <a:r>
              <a:rPr lang="en-US" altLang="ko-KR" sz="1000" dirty="0">
                <a:solidFill>
                  <a:srgbClr val="FFFFFF">
                    <a:alpha val="80000"/>
                  </a:srgbClr>
                </a:solidFill>
              </a:rPr>
              <a:t> →</a:t>
            </a:r>
            <a:br>
              <a:rPr lang="en-US" altLang="ko-KR" sz="1000" dirty="0">
                <a:solidFill>
                  <a:srgbClr val="FFFFFF">
                    <a:alpha val="80000"/>
                  </a:srgbClr>
                </a:solidFill>
              </a:rPr>
            </a:br>
            <a:r>
              <a:rPr lang="ko-KR" altLang="en-US" sz="1000" dirty="0">
                <a:solidFill>
                  <a:srgbClr val="FFFFFF">
                    <a:alpha val="80000"/>
                  </a:srgbClr>
                </a:solidFill>
              </a:rPr>
              <a:t>카카오 알림 </a:t>
            </a:r>
            <a:r>
              <a:rPr lang="ko-KR" altLang="en-US" sz="1000" dirty="0" err="1">
                <a:solidFill>
                  <a:srgbClr val="FFFFFF">
                    <a:alpha val="80000"/>
                  </a:srgbClr>
                </a:solidFill>
              </a:rPr>
              <a:t>으로</a:t>
            </a:r>
            <a:r>
              <a:rPr lang="en-US" altLang="ko-KR" sz="1000" dirty="0">
                <a:solidFill>
                  <a:srgbClr val="FFFFFF">
                    <a:alpha val="80000"/>
                  </a:srgbClr>
                </a:solidFill>
              </a:rPr>
              <a:t/>
            </a:r>
            <a:br>
              <a:rPr lang="en-US" altLang="ko-KR" sz="1000" dirty="0">
                <a:solidFill>
                  <a:srgbClr val="FFFFFF">
                    <a:alpha val="80000"/>
                  </a:srgbClr>
                </a:solidFill>
              </a:rPr>
            </a:br>
            <a:r>
              <a:rPr lang="ko-KR" altLang="en-US" sz="1000" dirty="0">
                <a:solidFill>
                  <a:srgbClr val="FFFFFF">
                    <a:alpha val="80000"/>
                  </a:srgbClr>
                </a:solidFill>
              </a:rPr>
              <a:t>콘텐츠 서비스 제공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E8F8E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037A3D"/>
                </a:solidFill>
              </a:rPr>
              <a:t>서비스</a:t>
            </a:r>
            <a:r>
              <a:rPr lang="ko-KR" altLang="en-US" sz="1000" dirty="0">
                <a:solidFill>
                  <a:srgbClr val="037A3D"/>
                </a:solidFill>
              </a:rPr>
              <a:t> 적용</a:t>
            </a:r>
            <a:r>
              <a:rPr lang="en-US" sz="1000" dirty="0">
                <a:solidFill>
                  <a:srgbClr val="037A3D"/>
                </a:solidFill>
              </a:rPr>
              <a:t> 흐름: CMS 등록 → URL 생성 → 카카오 알림톡 발송 (주 2개 × 13주 = 26개)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-27432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037A3D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30175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D5B8"/>
                </a:solidFill>
              </a:rPr>
              <a:t>사용성 확대 &amp;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8D5B8"/>
                </a:solidFill>
              </a:rPr>
              <a:t>운영 영역 확장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49040" y="502920"/>
            <a:ext cx="457200" cy="457200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447" y="5989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43400" y="502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14"/>
                </a:solidFill>
              </a:rPr>
              <a:t>콘텐츠 시리즈 확대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49040" y="1078992"/>
            <a:ext cx="5029200" cy="41148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206240" y="108813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F14"/>
                </a:solidFill>
              </a:rPr>
              <a:t>혈당·혈압·다이어트·콩팥 건강 등 전 </a:t>
            </a:r>
            <a:r>
              <a:rPr lang="en-US" sz="1200" dirty="0" err="1">
                <a:solidFill>
                  <a:srgbClr val="0F1F14"/>
                </a:solidFill>
              </a:rPr>
              <a:t>카테고리</a:t>
            </a:r>
            <a:r>
              <a:rPr lang="en-US" sz="1200" dirty="0">
                <a:solidFill>
                  <a:srgbClr val="0F1F14"/>
                </a:solidFill>
              </a:rPr>
              <a:t> </a:t>
            </a:r>
            <a:r>
              <a:rPr lang="en-US" sz="1200" dirty="0" err="1">
                <a:solidFill>
                  <a:srgbClr val="0F1F14"/>
                </a:solidFill>
              </a:rPr>
              <a:t>확장</a:t>
            </a:r>
            <a:r>
              <a:rPr lang="ko-KR" altLang="en-US" sz="1200" dirty="0">
                <a:solidFill>
                  <a:srgbClr val="0F1F14"/>
                </a:solidFill>
              </a:rPr>
              <a:t> 가능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749040" y="155448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664208"/>
            <a:ext cx="192024" cy="192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15636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F14"/>
                </a:solidFill>
              </a:rPr>
              <a:t>동일 파이프라인 </a:t>
            </a:r>
            <a:r>
              <a:rPr lang="en-US" sz="1200" dirty="0" err="1">
                <a:solidFill>
                  <a:srgbClr val="0F1F14"/>
                </a:solidFill>
              </a:rPr>
              <a:t>재사용</a:t>
            </a:r>
            <a:r>
              <a:rPr lang="en-US" sz="1200" dirty="0">
                <a:solidFill>
                  <a:srgbClr val="0F1F14"/>
                </a:solidFill>
              </a:rPr>
              <a:t> —</a:t>
            </a:r>
            <a:r>
              <a:rPr lang="ko-KR" altLang="en-US" sz="1200" dirty="0">
                <a:solidFill>
                  <a:srgbClr val="0F1F14"/>
                </a:solidFill>
              </a:rPr>
              <a:t> 주제 커스터마이징</a:t>
            </a:r>
            <a:r>
              <a:rPr lang="en-US" altLang="ko-KR" sz="1200" dirty="0">
                <a:solidFill>
                  <a:srgbClr val="0F1F14"/>
                </a:solidFill>
              </a:rPr>
              <a:t>-</a:t>
            </a:r>
            <a:r>
              <a:rPr lang="ko-KR" altLang="en-US" sz="1200" dirty="0">
                <a:solidFill>
                  <a:srgbClr val="0F1F14"/>
                </a:solidFill>
              </a:rPr>
              <a:t> 최소 비용 발생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749040" y="2029968"/>
            <a:ext cx="5029200" cy="41148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139696"/>
            <a:ext cx="192024" cy="1920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06240" y="20391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F14"/>
                </a:solidFill>
              </a:rPr>
              <a:t>템플릿 라이브러리화로 신규 주제 원클릭 제작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3749040" y="2651760"/>
            <a:ext cx="457200" cy="457200"/>
          </a:xfrm>
          <a:prstGeom prst="ellipse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2741512"/>
            <a:ext cx="285151" cy="2851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43400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14"/>
                </a:solidFill>
              </a:rPr>
              <a:t>운영 영역 확장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3749040" y="3227832"/>
            <a:ext cx="5029200" cy="41148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/>
          <p:nvPr/>
        </p:nvSpPr>
        <p:spPr>
          <a:xfrm>
            <a:off x="4206240" y="32369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0F1F14"/>
                </a:solidFill>
              </a:rPr>
              <a:t>검진센터 공지 </a:t>
            </a:r>
            <a:r>
              <a:rPr lang="en-US" sz="1200" dirty="0" err="1">
                <a:solidFill>
                  <a:srgbClr val="0F1F14"/>
                </a:solidFill>
              </a:rPr>
              <a:t>팝업</a:t>
            </a:r>
            <a:r>
              <a:rPr lang="ko-KR" altLang="en-US" sz="1200" dirty="0">
                <a:solidFill>
                  <a:srgbClr val="0F1F14"/>
                </a:solidFill>
              </a:rPr>
              <a:t> </a:t>
            </a:r>
            <a:r>
              <a:rPr lang="en-US" sz="1200" dirty="0">
                <a:solidFill>
                  <a:srgbClr val="0F1F14"/>
                </a:solidFill>
              </a:rPr>
              <a:t>→ 운영자 직접 수정·즉시 발행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3749040" y="4165092"/>
            <a:ext cx="5029200" cy="41148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9"/>
          <p:cNvSpPr/>
          <p:nvPr/>
        </p:nvSpPr>
        <p:spPr>
          <a:xfrm>
            <a:off x="4206240" y="417423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F14"/>
                </a:solidFill>
              </a:rPr>
              <a:t>시즌·캠페인 일정 기반 콘텐츠 배치 자동화</a:t>
            </a:r>
            <a:endParaRPr lang="en-US" sz="1200" dirty="0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DD90A3D2-F145-9FF4-138A-2CD37256A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390" y="1188720"/>
            <a:ext cx="192024" cy="192024"/>
          </a:xfrm>
          <a:prstGeom prst="rect">
            <a:avLst/>
          </a:prstGeom>
        </p:spPr>
      </p:pic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10FE486B-6580-967E-A792-5BAE1FEF5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883" y="3337560"/>
            <a:ext cx="192024" cy="192024"/>
          </a:xfrm>
          <a:prstGeom prst="rect">
            <a:avLst/>
          </a:prstGeom>
        </p:spPr>
      </p:pic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4689E52E-B00B-B955-DF81-AA4134F6C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836" y="4274820"/>
            <a:ext cx="192024" cy="192024"/>
          </a:xfrm>
          <a:prstGeom prst="rect">
            <a:avLst/>
          </a:prstGeom>
        </p:spPr>
      </p:pic>
      <p:sp>
        <p:nvSpPr>
          <p:cNvPr id="33" name="Shape 14">
            <a:extLst>
              <a:ext uri="{FF2B5EF4-FFF2-40B4-BE49-F238E27FC236}">
                <a16:creationId xmlns:a16="http://schemas.microsoft.com/office/drawing/2014/main" id="{D996ADAE-9090-D85E-F120-457E7665A883}"/>
              </a:ext>
            </a:extLst>
          </p:cNvPr>
          <p:cNvSpPr/>
          <p:nvPr/>
        </p:nvSpPr>
        <p:spPr>
          <a:xfrm>
            <a:off x="3749040" y="3689604"/>
            <a:ext cx="5029200" cy="41148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68E2166-AFA8-6FFB-5ABE-97AB3EC23033}"/>
              </a:ext>
            </a:extLst>
          </p:cNvPr>
          <p:cNvSpPr/>
          <p:nvPr/>
        </p:nvSpPr>
        <p:spPr>
          <a:xfrm>
            <a:off x="4206240" y="369874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0F1F14"/>
                </a:solidFill>
              </a:rPr>
              <a:t>검진센터 검진항목 광고 팝업 </a:t>
            </a:r>
            <a:r>
              <a:rPr lang="en-US" sz="1200" dirty="0">
                <a:solidFill>
                  <a:srgbClr val="0F1F14"/>
                </a:solidFill>
              </a:rPr>
              <a:t>→ 운영자 직접 수정·즉시 발행</a:t>
            </a:r>
            <a:endParaRPr lang="en-US" sz="1200" dirty="0"/>
          </a:p>
        </p:txBody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7D0444C3-06CF-0CD3-DF5F-79C27A11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883" y="3799332"/>
            <a:ext cx="192024" cy="1920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68394-CB3C-E2F3-D437-EBD5301B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7780BD52-36C3-2F86-6E1F-055A7F651F97}"/>
              </a:ext>
            </a:extLst>
          </p:cNvPr>
          <p:cNvSpPr/>
          <p:nvPr/>
        </p:nvSpPr>
        <p:spPr>
          <a:xfrm>
            <a:off x="457200" y="347472"/>
            <a:ext cx="54864" cy="329184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A9AD7C7-A21B-D897-3123-B2BA4850F0AF}"/>
              </a:ext>
            </a:extLst>
          </p:cNvPr>
          <p:cNvSpPr/>
          <p:nvPr/>
        </p:nvSpPr>
        <p:spPr>
          <a:xfrm>
            <a:off x="594360" y="3474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AB55"/>
                </a:solidFill>
              </a:rPr>
              <a:t>AI 이미지 </a:t>
            </a:r>
            <a:r>
              <a:rPr lang="en-US" sz="1300" b="1" dirty="0" err="1">
                <a:solidFill>
                  <a:srgbClr val="05AB55"/>
                </a:solidFill>
              </a:rPr>
              <a:t>생성</a:t>
            </a:r>
            <a:r>
              <a:rPr lang="en-US" sz="1300" b="1" dirty="0">
                <a:solidFill>
                  <a:srgbClr val="05AB55"/>
                </a:solidFill>
              </a:rPr>
              <a:t> </a:t>
            </a:r>
            <a:r>
              <a:rPr lang="en-US" sz="1300" b="1" dirty="0" err="1">
                <a:solidFill>
                  <a:srgbClr val="05AB55"/>
                </a:solidFill>
              </a:rPr>
              <a:t>비용</a:t>
            </a:r>
            <a:endParaRPr lang="en-US" sz="13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651B2613-D2B3-7A9D-7D46-859BA824F9D8}"/>
              </a:ext>
            </a:extLst>
          </p:cNvPr>
          <p:cNvSpPr/>
          <p:nvPr/>
        </p:nvSpPr>
        <p:spPr>
          <a:xfrm>
            <a:off x="-167501" y="240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F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14개 기준 실측 · 왜 GPT-image-1인가</a:t>
            </a:r>
            <a:endParaRPr lang="en-US" sz="28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D24EBD22-41E5-67A9-C3BD-901E6ECA0AF6}"/>
              </a:ext>
            </a:extLst>
          </p:cNvPr>
          <p:cNvSpPr/>
          <p:nvPr/>
        </p:nvSpPr>
        <p:spPr>
          <a:xfrm>
            <a:off x="457200" y="1481328"/>
            <a:ext cx="3803073" cy="292608"/>
          </a:xfrm>
          <a:prstGeom prst="rect">
            <a:avLst/>
          </a:prstGeom>
          <a:solidFill>
            <a:srgbClr val="E8F8E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 sz="80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C7EBD00F-7F04-3E44-5878-9620DEA9104A}"/>
              </a:ext>
            </a:extLst>
          </p:cNvPr>
          <p:cNvSpPr/>
          <p:nvPr/>
        </p:nvSpPr>
        <p:spPr>
          <a:xfrm>
            <a:off x="502920" y="14184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/>
              <a:t>항목</a:t>
            </a:r>
            <a:endParaRPr lang="en-US" sz="8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D84C9355-1822-2B28-6892-F2BA6318E8BE}"/>
              </a:ext>
            </a:extLst>
          </p:cNvPr>
          <p:cNvSpPr/>
          <p:nvPr/>
        </p:nvSpPr>
        <p:spPr>
          <a:xfrm>
            <a:off x="1947948" y="1414827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비용</a:t>
            </a:r>
            <a:endParaRPr lang="en-US" sz="8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4224FF82-412F-0EC4-5880-5AD01F53AE16}"/>
              </a:ext>
            </a:extLst>
          </p:cNvPr>
          <p:cNvSpPr/>
          <p:nvPr/>
        </p:nvSpPr>
        <p:spPr>
          <a:xfrm>
            <a:off x="3045228" y="1414827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장당</a:t>
            </a:r>
            <a:endParaRPr lang="en-US" sz="8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ECF248DE-554F-E286-27AF-C48368E6F235}"/>
              </a:ext>
            </a:extLst>
          </p:cNvPr>
          <p:cNvSpPr/>
          <p:nvPr/>
        </p:nvSpPr>
        <p:spPr>
          <a:xfrm>
            <a:off x="3639588" y="144669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건수</a:t>
            </a:r>
            <a:endParaRPr lang="en-US" sz="8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750DF6D4-A624-F1B3-6E3C-80A134359E7D}"/>
              </a:ext>
            </a:extLst>
          </p:cNvPr>
          <p:cNvSpPr/>
          <p:nvPr/>
        </p:nvSpPr>
        <p:spPr>
          <a:xfrm>
            <a:off x="457200" y="1769505"/>
            <a:ext cx="3803073" cy="512064"/>
          </a:xfrm>
          <a:prstGeom prst="rect">
            <a:avLst/>
          </a:prstGeom>
          <a:solidFill>
            <a:schemeClr val="bg1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 sz="80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6EC0CB80-FA04-246B-817F-C5381B737AB3}"/>
              </a:ext>
            </a:extLst>
          </p:cNvPr>
          <p:cNvSpPr/>
          <p:nvPr/>
        </p:nvSpPr>
        <p:spPr>
          <a:xfrm>
            <a:off x="566928" y="1903149"/>
            <a:ext cx="1600200" cy="22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F14"/>
                </a:solidFill>
              </a:rPr>
              <a:t>GPT-image-1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0F1F14"/>
                </a:solidFill>
              </a:rPr>
              <a:t>(헤드라인 표지)</a:t>
            </a:r>
            <a:endParaRPr lang="en-US" sz="8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7DF3BCB1-B3F8-E673-ABDB-6521BC58A00E}"/>
              </a:ext>
            </a:extLst>
          </p:cNvPr>
          <p:cNvSpPr/>
          <p:nvPr/>
        </p:nvSpPr>
        <p:spPr>
          <a:xfrm>
            <a:off x="1947948" y="1903149"/>
            <a:ext cx="1097280" cy="22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F14"/>
                </a:solidFill>
              </a:rPr>
              <a:t>₩9,800</a:t>
            </a:r>
            <a:endParaRPr lang="en-US" sz="8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EFF47A88-F9A1-6538-9B1C-E4711A7A9D2F}"/>
              </a:ext>
            </a:extLst>
          </p:cNvPr>
          <p:cNvSpPr/>
          <p:nvPr/>
        </p:nvSpPr>
        <p:spPr>
          <a:xfrm>
            <a:off x="3045228" y="1903149"/>
            <a:ext cx="1097280" cy="22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F14"/>
                </a:solidFill>
              </a:rPr>
              <a:t>~158원</a:t>
            </a:r>
            <a:endParaRPr lang="en-US" sz="8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A2164326-0E81-D153-27F5-B2D646B7A774}"/>
              </a:ext>
            </a:extLst>
          </p:cNvPr>
          <p:cNvSpPr/>
          <p:nvPr/>
        </p:nvSpPr>
        <p:spPr>
          <a:xfrm>
            <a:off x="3639588" y="1903149"/>
            <a:ext cx="777240" cy="22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62회</a:t>
            </a:r>
            <a:endParaRPr lang="en-US" sz="80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AB36829D-37CF-26C7-A7F1-E1D2FFE0FE29}"/>
              </a:ext>
            </a:extLst>
          </p:cNvPr>
          <p:cNvSpPr/>
          <p:nvPr/>
        </p:nvSpPr>
        <p:spPr>
          <a:xfrm>
            <a:off x="457200" y="2265359"/>
            <a:ext cx="3803073" cy="452629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EA"/>
            </a:solidFill>
            <a:prstDash val="solid"/>
          </a:ln>
        </p:spPr>
        <p:txBody>
          <a:bodyPr/>
          <a:lstStyle/>
          <a:p>
            <a:endParaRPr lang="ko-KR" altLang="en-US" sz="80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DDC0B961-0B83-7CF8-CAE8-2C59E69870B6}"/>
              </a:ext>
            </a:extLst>
          </p:cNvPr>
          <p:cNvSpPr/>
          <p:nvPr/>
        </p:nvSpPr>
        <p:spPr>
          <a:xfrm>
            <a:off x="594360" y="2189577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F14"/>
                </a:solidFill>
              </a:rPr>
              <a:t>Gemini 2.5 Flash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0F1F14"/>
                </a:solidFill>
              </a:rPr>
              <a:t>(섹션 이미지)</a:t>
            </a:r>
            <a:endParaRPr lang="en-US" sz="8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DD9B531E-C592-4A18-C836-CB34D5505EAC}"/>
              </a:ext>
            </a:extLst>
          </p:cNvPr>
          <p:cNvSpPr/>
          <p:nvPr/>
        </p:nvSpPr>
        <p:spPr>
          <a:xfrm>
            <a:off x="1975380" y="219179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F14"/>
                </a:solidFill>
              </a:rPr>
              <a:t>₩6,382</a:t>
            </a:r>
            <a:endParaRPr lang="en-US" sz="80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06DBFFE5-4E3D-7AE4-FB84-83860EAD39F2}"/>
              </a:ext>
            </a:extLst>
          </p:cNvPr>
          <p:cNvSpPr/>
          <p:nvPr/>
        </p:nvSpPr>
        <p:spPr>
          <a:xfrm>
            <a:off x="3054372" y="218500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F14"/>
                </a:solidFill>
              </a:rPr>
              <a:t>~82원</a:t>
            </a:r>
            <a:endParaRPr lang="en-US" sz="8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1280A036-F413-6B6A-E88E-3CD9CCD34D11}"/>
              </a:ext>
            </a:extLst>
          </p:cNvPr>
          <p:cNvSpPr/>
          <p:nvPr/>
        </p:nvSpPr>
        <p:spPr>
          <a:xfrm>
            <a:off x="3639588" y="2262729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78장</a:t>
            </a:r>
            <a:endParaRPr lang="en-US" sz="80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4242740-1593-379D-F155-7ABB2B630743}"/>
              </a:ext>
            </a:extLst>
          </p:cNvPr>
          <p:cNvSpPr/>
          <p:nvPr/>
        </p:nvSpPr>
        <p:spPr>
          <a:xfrm>
            <a:off x="448472" y="2711337"/>
            <a:ext cx="3811801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80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9F41CE6D-66E8-2466-9C9C-91B0E8257F2E}"/>
              </a:ext>
            </a:extLst>
          </p:cNvPr>
          <p:cNvSpPr/>
          <p:nvPr/>
        </p:nvSpPr>
        <p:spPr>
          <a:xfrm>
            <a:off x="550973" y="26765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/>
              <a:t>14개 합계</a:t>
            </a:r>
            <a:endParaRPr lang="en-US" sz="80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A5640B97-1744-DC4A-494F-D75B6521D391}"/>
              </a:ext>
            </a:extLst>
          </p:cNvPr>
          <p:cNvSpPr/>
          <p:nvPr/>
        </p:nvSpPr>
        <p:spPr>
          <a:xfrm>
            <a:off x="2268543" y="2697106"/>
            <a:ext cx="2208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b="1" dirty="0">
                <a:solidFill>
                  <a:srgbClr val="FFFFFF"/>
                </a:solidFill>
              </a:rPr>
              <a:t>                                          </a:t>
            </a:r>
            <a:r>
              <a:rPr lang="en-US" sz="800" b="1" dirty="0" err="1">
                <a:solidFill>
                  <a:srgbClr val="FFFFFF"/>
                </a:solidFill>
              </a:rPr>
              <a:t>약</a:t>
            </a:r>
            <a:r>
              <a:rPr lang="en-US" sz="800" b="1" dirty="0">
                <a:solidFill>
                  <a:srgbClr val="FFFFFF"/>
                </a:solidFill>
              </a:rPr>
              <a:t> ₩16,000</a:t>
            </a:r>
            <a:endParaRPr lang="en-US" sz="80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13504A23-18F6-BCC0-BF74-C34288715188}"/>
              </a:ext>
            </a:extLst>
          </p:cNvPr>
          <p:cNvSpPr/>
          <p:nvPr/>
        </p:nvSpPr>
        <p:spPr>
          <a:xfrm>
            <a:off x="448472" y="2965291"/>
            <a:ext cx="3811801" cy="274922"/>
          </a:xfrm>
          <a:prstGeom prst="rect">
            <a:avLst/>
          </a:prstGeom>
          <a:solidFill>
            <a:srgbClr val="0F1F14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                    </a:t>
            </a:r>
            <a:endParaRPr lang="en-US" altLang="ko-KR" sz="8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272C14BB-6BF2-C9ED-81DC-68BAFB6DAB40}"/>
              </a:ext>
            </a:extLst>
          </p:cNvPr>
          <p:cNvSpPr/>
          <p:nvPr/>
        </p:nvSpPr>
        <p:spPr>
          <a:xfrm>
            <a:off x="531183" y="2951159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chemeClr val="bg1">
                    <a:lumMod val="95000"/>
                  </a:schemeClr>
                </a:solidFill>
              </a:rPr>
              <a:t>26개 전체 예상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0804A82C-C7B3-1DBB-8FDE-A4BED9B67020}"/>
              </a:ext>
            </a:extLst>
          </p:cNvPr>
          <p:cNvSpPr/>
          <p:nvPr/>
        </p:nvSpPr>
        <p:spPr>
          <a:xfrm>
            <a:off x="1756340" y="3278265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₩24,000 ~ 30,000</a:t>
            </a:r>
            <a:endParaRPr lang="en-US" sz="800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742C5EBA-2425-ECA9-F9A8-B2356436F8CB}"/>
              </a:ext>
            </a:extLst>
          </p:cNvPr>
          <p:cNvSpPr/>
          <p:nvPr/>
        </p:nvSpPr>
        <p:spPr>
          <a:xfrm>
            <a:off x="416468" y="3268934"/>
            <a:ext cx="3386606" cy="32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* 테스트·재생성 48회 포함 / 스타일 확정 후 재생성 감소 예상</a:t>
            </a:r>
            <a:endParaRPr lang="en-US" sz="80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74CAA46C-1990-E49A-F7DD-40301724FD95}"/>
              </a:ext>
            </a:extLst>
          </p:cNvPr>
          <p:cNvSpPr/>
          <p:nvPr/>
        </p:nvSpPr>
        <p:spPr>
          <a:xfrm>
            <a:off x="411480" y="3556461"/>
            <a:ext cx="3848793" cy="1469626"/>
          </a:xfrm>
          <a:prstGeom prst="rect">
            <a:avLst/>
          </a:prstGeom>
          <a:solidFill>
            <a:schemeClr val="bg1"/>
          </a:solidFill>
          <a:ln w="12700">
            <a:solidFill>
              <a:srgbClr val="E1EFE6"/>
            </a:solidFill>
            <a:prstDash val="solid"/>
          </a:ln>
          <a:effectLst/>
        </p:spPr>
        <p:txBody>
          <a:bodyPr/>
          <a:lstStyle/>
          <a:p>
            <a:endParaRPr lang="ko-KR" altLang="en-US" sz="800"/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8EB964C5-9F7E-1B99-B86D-C384EFC64792}"/>
              </a:ext>
            </a:extLst>
          </p:cNvPr>
          <p:cNvSpPr/>
          <p:nvPr/>
        </p:nvSpPr>
        <p:spPr>
          <a:xfrm>
            <a:off x="417853" y="3570410"/>
            <a:ext cx="3840516" cy="45719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 sz="80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7937679D-2D2E-556B-F1D5-424C8304B432}"/>
              </a:ext>
            </a:extLst>
          </p:cNvPr>
          <p:cNvSpPr/>
          <p:nvPr/>
        </p:nvSpPr>
        <p:spPr>
          <a:xfrm>
            <a:off x="531183" y="359811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/>
              <a:t>왜 비싼 GPT-image-1을 쓰나?</a:t>
            </a:r>
            <a:endParaRPr lang="en-US" sz="800" dirty="0"/>
          </a:p>
        </p:txBody>
      </p:sp>
      <p:pic>
        <p:nvPicPr>
          <p:cNvPr id="62" name="Image 0" descr="preencoded.png">
            <a:extLst>
              <a:ext uri="{FF2B5EF4-FFF2-40B4-BE49-F238E27FC236}">
                <a16:creationId xmlns:a16="http://schemas.microsoft.com/office/drawing/2014/main" id="{A2935A2B-2BFF-71F9-1CC3-5FBC5FE51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83" y="4073606"/>
            <a:ext cx="201168" cy="201168"/>
          </a:xfrm>
          <a:prstGeom prst="rect">
            <a:avLst/>
          </a:prstGeom>
        </p:spPr>
      </p:pic>
      <p:sp>
        <p:nvSpPr>
          <p:cNvPr id="63" name="Text 30">
            <a:extLst>
              <a:ext uri="{FF2B5EF4-FFF2-40B4-BE49-F238E27FC236}">
                <a16:creationId xmlns:a16="http://schemas.microsoft.com/office/drawing/2014/main" id="{7E1DDA36-D565-3902-1C24-74E0421008A3}"/>
              </a:ext>
            </a:extLst>
          </p:cNvPr>
          <p:cNvSpPr/>
          <p:nvPr/>
        </p:nvSpPr>
        <p:spPr>
          <a:xfrm>
            <a:off x="746899" y="3977527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/>
              <a:t>카드 표지에 한글 텍스트 직접 삽입 필요</a:t>
            </a:r>
          </a:p>
        </p:txBody>
      </p:sp>
      <p:pic>
        <p:nvPicPr>
          <p:cNvPr id="64" name="Image 1" descr="preencoded.png">
            <a:extLst>
              <a:ext uri="{FF2B5EF4-FFF2-40B4-BE49-F238E27FC236}">
                <a16:creationId xmlns:a16="http://schemas.microsoft.com/office/drawing/2014/main" id="{9AA93F08-40D9-6BC7-197D-6A1C5F701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83" y="4402790"/>
            <a:ext cx="201168" cy="201168"/>
          </a:xfrm>
          <a:prstGeom prst="rect">
            <a:avLst/>
          </a:prstGeom>
        </p:spPr>
      </p:pic>
      <p:sp>
        <p:nvSpPr>
          <p:cNvPr id="65" name="Text 31">
            <a:extLst>
              <a:ext uri="{FF2B5EF4-FFF2-40B4-BE49-F238E27FC236}">
                <a16:creationId xmlns:a16="http://schemas.microsoft.com/office/drawing/2014/main" id="{26275903-27A2-7B7B-0937-1A176130419E}"/>
              </a:ext>
            </a:extLst>
          </p:cNvPr>
          <p:cNvSpPr/>
          <p:nvPr/>
        </p:nvSpPr>
        <p:spPr>
          <a:xfrm>
            <a:off x="753873" y="4272374"/>
            <a:ext cx="2709810" cy="209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/>
              <a:t>Gemini는 한글 오탈자·깨짐 빈번 발생</a:t>
            </a:r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811922EF-9B4E-74AA-6AF5-10565B5281AE}"/>
              </a:ext>
            </a:extLst>
          </p:cNvPr>
          <p:cNvSpPr/>
          <p:nvPr/>
        </p:nvSpPr>
        <p:spPr>
          <a:xfrm>
            <a:off x="740525" y="4481809"/>
            <a:ext cx="24103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err="1"/>
              <a:t>품질</a:t>
            </a:r>
            <a:r>
              <a:rPr lang="en-US" sz="800" dirty="0"/>
              <a:t> 우선</a:t>
            </a:r>
          </a:p>
        </p:txBody>
      </p:sp>
      <p:sp>
        <p:nvSpPr>
          <p:cNvPr id="68" name="Shape 33">
            <a:extLst>
              <a:ext uri="{FF2B5EF4-FFF2-40B4-BE49-F238E27FC236}">
                <a16:creationId xmlns:a16="http://schemas.microsoft.com/office/drawing/2014/main" id="{B9DAEB1C-083D-4175-EF3A-90125385774E}"/>
              </a:ext>
            </a:extLst>
          </p:cNvPr>
          <p:cNvSpPr/>
          <p:nvPr/>
        </p:nvSpPr>
        <p:spPr>
          <a:xfrm>
            <a:off x="4522263" y="1783080"/>
            <a:ext cx="4118817" cy="3254709"/>
          </a:xfrm>
          <a:prstGeom prst="rect">
            <a:avLst/>
          </a:prstGeom>
          <a:solidFill>
            <a:srgbClr val="F4F7F5"/>
          </a:solidFill>
          <a:ln w="12700">
            <a:solidFill>
              <a:srgbClr val="D8E8E0"/>
            </a:solidFill>
            <a:prstDash val="solid"/>
          </a:ln>
        </p:spPr>
        <p:txBody>
          <a:bodyPr/>
          <a:lstStyle/>
          <a:p>
            <a:endParaRPr lang="ko-KR" altLang="en-US" sz="80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1A027BDB-4286-5147-4435-73060F42E626}"/>
              </a:ext>
            </a:extLst>
          </p:cNvPr>
          <p:cNvSpPr/>
          <p:nvPr/>
        </p:nvSpPr>
        <p:spPr>
          <a:xfrm>
            <a:off x="4516579" y="1472184"/>
            <a:ext cx="4138633" cy="310896"/>
          </a:xfrm>
          <a:prstGeom prst="rect">
            <a:avLst/>
          </a:prstGeom>
          <a:solidFill>
            <a:srgbClr val="E8F8EF"/>
          </a:solidFill>
          <a:ln w="12700">
            <a:solidFill>
              <a:srgbClr val="C2EDD8"/>
            </a:solidFill>
            <a:prstDash val="solid"/>
          </a:ln>
        </p:spPr>
        <p:txBody>
          <a:bodyPr/>
          <a:lstStyle/>
          <a:p>
            <a:endParaRPr lang="ko-KR" altLang="en-US" sz="800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0AB2D980-F697-770D-5458-ACB6DC6F85FE}"/>
              </a:ext>
            </a:extLst>
          </p:cNvPr>
          <p:cNvSpPr/>
          <p:nvPr/>
        </p:nvSpPr>
        <p:spPr>
          <a:xfrm>
            <a:off x="4983480" y="1474539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37A3D"/>
                </a:solidFill>
              </a:rPr>
              <a:t>GPT </a:t>
            </a:r>
            <a:r>
              <a:rPr lang="ko-KR" altLang="en-US" sz="800" b="1" dirty="0">
                <a:solidFill>
                  <a:srgbClr val="037A3D"/>
                </a:solidFill>
              </a:rPr>
              <a:t>                         </a:t>
            </a:r>
            <a:r>
              <a:rPr lang="en-US" sz="800" b="1" dirty="0">
                <a:solidFill>
                  <a:srgbClr val="037A3D"/>
                </a:solidFill>
              </a:rPr>
              <a:t>vs </a:t>
            </a:r>
            <a:r>
              <a:rPr lang="ko-KR" altLang="en-US" sz="800" b="1" dirty="0">
                <a:solidFill>
                  <a:srgbClr val="037A3D"/>
                </a:solidFill>
              </a:rPr>
              <a:t>                </a:t>
            </a:r>
            <a:r>
              <a:rPr lang="en-US" sz="800" b="1" dirty="0">
                <a:solidFill>
                  <a:srgbClr val="037A3D"/>
                </a:solidFill>
              </a:rPr>
              <a:t>Gemini</a:t>
            </a:r>
            <a:endParaRPr lang="en-US" sz="800" dirty="0"/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BC6455A8-7CB2-FE60-9132-38064C036B74}"/>
              </a:ext>
            </a:extLst>
          </p:cNvPr>
          <p:cNvSpPr/>
          <p:nvPr/>
        </p:nvSpPr>
        <p:spPr>
          <a:xfrm>
            <a:off x="2283091" y="2967218"/>
            <a:ext cx="2208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 </a:t>
            </a:r>
            <a:r>
              <a:rPr lang="en-US" altLang="ko-KR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₩24,000 ~ 30,000</a:t>
            </a:r>
            <a:endParaRPr lang="en-US" sz="800" dirty="0"/>
          </a:p>
        </p:txBody>
      </p:sp>
      <p:pic>
        <p:nvPicPr>
          <p:cNvPr id="77" name="Image 3" descr="preencoded.png">
            <a:extLst>
              <a:ext uri="{FF2B5EF4-FFF2-40B4-BE49-F238E27FC236}">
                <a16:creationId xmlns:a16="http://schemas.microsoft.com/office/drawing/2014/main" id="{2AE997FA-1B63-D4E4-0CE7-DB4B8DFF0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83" y="4038418"/>
            <a:ext cx="126262" cy="126262"/>
          </a:xfrm>
          <a:prstGeom prst="rect">
            <a:avLst/>
          </a:prstGeom>
        </p:spPr>
      </p:pic>
      <p:pic>
        <p:nvPicPr>
          <p:cNvPr id="80" name="Image 3" descr="preencoded.png">
            <a:extLst>
              <a:ext uri="{FF2B5EF4-FFF2-40B4-BE49-F238E27FC236}">
                <a16:creationId xmlns:a16="http://schemas.microsoft.com/office/drawing/2014/main" id="{A286B713-023E-7FB7-1B56-83648C601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09" y="4293178"/>
            <a:ext cx="126262" cy="126262"/>
          </a:xfrm>
          <a:prstGeom prst="rect">
            <a:avLst/>
          </a:prstGeom>
        </p:spPr>
      </p:pic>
      <p:pic>
        <p:nvPicPr>
          <p:cNvPr id="81" name="Image 3" descr="preencoded.png">
            <a:extLst>
              <a:ext uri="{FF2B5EF4-FFF2-40B4-BE49-F238E27FC236}">
                <a16:creationId xmlns:a16="http://schemas.microsoft.com/office/drawing/2014/main" id="{EB041AC9-04E4-6D25-AC4C-AACA6A3C7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83" y="4563042"/>
            <a:ext cx="126262" cy="126262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DF2D15A9-D760-6D2A-2D00-8B257738C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457" y="1850854"/>
            <a:ext cx="1545752" cy="1545752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FE70F12A-BD15-01B0-B84C-D7EE3CEED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1891" y="1824782"/>
            <a:ext cx="1545752" cy="1545752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5E2B87FB-1659-61CE-666C-92650246BA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1891" y="3431285"/>
            <a:ext cx="1545752" cy="1545752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F42B2427-0056-818F-81AF-4400E57998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9633" y="3457822"/>
            <a:ext cx="1545752" cy="154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54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0" y="-137160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dirty="0">
                <a:solidFill>
                  <a:srgbClr val="E8F8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F1F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GC Care 디지털콘텐츠팀의 AI 제작 시스템 도입 결과를 공유드렸습니다.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804672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D4EF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4864" cy="566928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384185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2585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F14"/>
                </a:solidFill>
              </a:rPr>
              <a:t>AI 자동화로 182컷, 제작 </a:t>
            </a:r>
            <a:r>
              <a:rPr lang="en-US" sz="1300" dirty="0" err="1">
                <a:solidFill>
                  <a:srgbClr val="0F1F14"/>
                </a:solidFill>
              </a:rPr>
              <a:t>기간</a:t>
            </a:r>
            <a:r>
              <a:rPr lang="en-US" sz="1300" dirty="0">
                <a:solidFill>
                  <a:srgbClr val="0F1F14"/>
                </a:solidFill>
              </a:rPr>
              <a:t> 9</a:t>
            </a:r>
            <a:r>
              <a:rPr lang="en-US" altLang="ko-KR" sz="1300" dirty="0">
                <a:solidFill>
                  <a:srgbClr val="0F1F14"/>
                </a:solidFill>
              </a:rPr>
              <a:t>~10</a:t>
            </a:r>
            <a:r>
              <a:rPr lang="en-US" sz="1300" dirty="0">
                <a:solidFill>
                  <a:srgbClr val="0F1F14"/>
                </a:solidFill>
              </a:rPr>
              <a:t>일 → 1일 이내 단축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" y="2926080"/>
            <a:ext cx="54864" cy="566928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06249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9443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F14"/>
                </a:solidFill>
              </a:rPr>
              <a:t>웹 편집기로 담당자 직접 수정 — 디자이너 반복 요청 제거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804672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D4EF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40080" y="3611880"/>
            <a:ext cx="54864" cy="566928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40795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6301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1F14"/>
                </a:solidFill>
              </a:rPr>
              <a:t>한 번 구현한 파이프라인, </a:t>
            </a:r>
            <a:r>
              <a:rPr lang="ko-KR" altLang="en-US" sz="1300" dirty="0">
                <a:solidFill>
                  <a:srgbClr val="0F1F14"/>
                </a:solidFill>
              </a:rPr>
              <a:t>다른 </a:t>
            </a:r>
            <a:r>
              <a:rPr lang="en-US" sz="1300" dirty="0" err="1">
                <a:solidFill>
                  <a:srgbClr val="0F1F14"/>
                </a:solidFill>
              </a:rPr>
              <a:t>건강</a:t>
            </a:r>
            <a:r>
              <a:rPr lang="en-US" sz="1300" dirty="0">
                <a:solidFill>
                  <a:srgbClr val="0F1F14"/>
                </a:solidFill>
              </a:rPr>
              <a:t> 카테고리로 확장 가능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5AB55"/>
          </a:solidFill>
          <a:ln w="12700">
            <a:solidFill>
              <a:srgbClr val="05AB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640080" y="4681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GC Care </a:t>
            </a:r>
            <a:r>
              <a:rPr lang="en-US" sz="1200" dirty="0" err="1">
                <a:solidFill>
                  <a:srgbClr val="FFFFFF"/>
                </a:solidFill>
              </a:rPr>
              <a:t>AX팀</a:t>
            </a:r>
            <a:r>
              <a:rPr lang="en-US" sz="1200" dirty="0">
                <a:solidFill>
                  <a:srgbClr val="FFFFFF"/>
                </a:solidFill>
              </a:rPr>
              <a:t>  |  2026년 6월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Prete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Pretendard"/>
        <a:font script="Hebr" typeface="Pretendar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retendard"/>
        <a:font script="Uigh" typeface="Microsoft Uighur"/>
        <a:font script="Geor" typeface="Sylfaen"/>
        <a:font script="Armn" typeface="Prete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616</Words>
  <Application>Microsoft Office PowerPoint</Application>
  <PresentationFormat>화면 슬라이드 쇼(16:9)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Pretendard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카드뉴스 제작 시스템 도입 보고</dc:title>
  <dc:subject>PptxGenJS Presentation</dc:subject>
  <dc:creator>PptxGenJS</dc:creator>
  <cp:lastModifiedBy>윤성웅</cp:lastModifiedBy>
  <cp:revision>10</cp:revision>
  <dcterms:created xsi:type="dcterms:W3CDTF">2026-06-01T08:18:38Z</dcterms:created>
  <dcterms:modified xsi:type="dcterms:W3CDTF">2026-06-18T17:16:58Z</dcterms:modified>
</cp:coreProperties>
</file>