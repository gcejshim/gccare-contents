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12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90" d="100"/>
          <a:sy n="190" d="100"/>
        </p:scale>
        <p:origin x="156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0730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B8A8"/>
                </a:solidFill>
              </a:rPr>
              <a:t>GC케어 AX팀 혁신 사례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029200" cy="2111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b="1" smtClean="0">
                <a:solidFill>
                  <a:srgbClr val="FFFFFF"/>
                </a:solidFill>
              </a:rPr>
              <a:t>AI 기반 콘텐츠</a:t>
            </a:r>
            <a:endParaRPr lang="en-US" sz="4000" smtClean="0"/>
          </a:p>
          <a:p>
            <a:pPr marL="0" indent="0" algn="l">
              <a:buNone/>
            </a:pPr>
            <a:r>
              <a:rPr lang="en-US" sz="4000" b="1" smtClean="0">
                <a:solidFill>
                  <a:srgbClr val="FFFFFF"/>
                </a:solidFill>
              </a:rPr>
              <a:t>자동생성 및 편집</a:t>
            </a:r>
            <a:r>
              <a:rPr lang="ko-KR" altLang="en-US" sz="4000" b="1" smtClean="0">
                <a:solidFill>
                  <a:srgbClr val="FFFFFF"/>
                </a:solidFill>
              </a:rPr>
              <a:t>기</a:t>
            </a:r>
            <a:r>
              <a:rPr lang="en-US" altLang="ko-KR" sz="4000" b="1" smtClean="0">
                <a:solidFill>
                  <a:srgbClr val="FFFFFF"/>
                </a:solidFill>
              </a:rPr>
              <a:t/>
            </a:r>
            <a:br>
              <a:rPr lang="en-US" altLang="ko-KR" sz="4000" b="1" smtClean="0">
                <a:solidFill>
                  <a:srgbClr val="FFFFFF"/>
                </a:solidFill>
              </a:rPr>
            </a:br>
            <a:r>
              <a:rPr lang="ko-KR" altLang="en-US" sz="4000" smtClean="0"/>
              <a:t>활용안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smtClean="0">
                <a:solidFill>
                  <a:srgbClr val="9DB8A8"/>
                </a:solidFill>
              </a:rPr>
              <a:t>'</a:t>
            </a:r>
            <a:r>
              <a:rPr lang="en-US" sz="1400">
                <a:solidFill>
                  <a:srgbClr val="9DB8A8"/>
                </a:solidFill>
              </a:rPr>
              <a:t>어떠케어</a:t>
            </a:r>
            <a:r>
              <a:rPr lang="en-US" sz="1400" smtClean="0">
                <a:solidFill>
                  <a:srgbClr val="9DB8A8"/>
                </a:solidFill>
              </a:rPr>
              <a:t>'콘텐츠 </a:t>
            </a:r>
            <a:r>
              <a:rPr lang="en-US" sz="1400">
                <a:solidFill>
                  <a:srgbClr val="9DB8A8"/>
                </a:solidFill>
              </a:rPr>
              <a:t>생성 </a:t>
            </a:r>
            <a:r>
              <a:rPr lang="en-US" sz="1400" smtClean="0">
                <a:solidFill>
                  <a:srgbClr val="9DB8A8"/>
                </a:solidFill>
              </a:rPr>
              <a:t>자동화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0" y="365760"/>
            <a:ext cx="3291840" cy="4389120"/>
          </a:xfrm>
          <a:prstGeom prst="roundRect">
            <a:avLst>
              <a:gd name="adj" fmla="val 5556"/>
            </a:avLst>
          </a:prstGeom>
          <a:solidFill>
            <a:srgbClr val="243028"/>
          </a:solidFill>
          <a:ln w="6350">
            <a:solidFill>
              <a:srgbClr val="3A5044"/>
            </a:solidFill>
            <a:prstDash val="solid"/>
          </a:ln>
          <a:effectLst>
            <a:outerShdw blurRad="254000" dist="1016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A78"/>
                </a:solidFill>
              </a:rPr>
              <a:t>심은진 · GC케어 AX팀 · 2026.06.01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E22"/>
                </a:solidFill>
              </a:rPr>
              <a:t>새로운 콘텐츠 제작 패러다임 설계도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D1E4D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D1E4D9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051560"/>
            <a:ext cx="640080" cy="640080"/>
          </a:xfrm>
          <a:prstGeom prst="ellipse">
            <a:avLst/>
          </a:prstGeom>
          <a:solidFill>
            <a:srgbClr val="1DB85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2E22"/>
                </a:solidFill>
              </a:rPr>
              <a:t>배경 &amp; 목표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331720"/>
            <a:ext cx="1737360" cy="18288"/>
          </a:xfrm>
          <a:prstGeom prst="rect">
            <a:avLst/>
          </a:prstGeom>
          <a:solidFill>
            <a:srgbClr val="D1E4D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231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182컷 규모의 제작 병목과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10일의 리드타임 한계 돌파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08960" y="2560320"/>
            <a:ext cx="182880" cy="36576"/>
          </a:xfrm>
          <a:prstGeom prst="rect">
            <a:avLst/>
          </a:prstGeom>
          <a:solidFill>
            <a:srgbClr val="1DB85A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249631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DB85A"/>
                </a:solidFill>
              </a:rPr>
              <a:t>▶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91840" y="91440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D1E4D9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9000" y="1051560"/>
            <a:ext cx="640080" cy="640080"/>
          </a:xfrm>
          <a:prstGeom prst="ellipse">
            <a:avLst/>
          </a:prstGeom>
          <a:solidFill>
            <a:srgbClr val="1DB85A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2E22"/>
                </a:solidFill>
              </a:rPr>
              <a:t>구축 과정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749040" y="2331720"/>
            <a:ext cx="1737360" cy="18288"/>
          </a:xfrm>
          <a:prstGeom prst="rect">
            <a:avLst/>
          </a:prstGeom>
          <a:solidFill>
            <a:srgbClr val="D1E4D9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24231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5단계 AI 파이프라인(pipeline.py)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및 웹 편집기 개발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0" y="2560320"/>
            <a:ext cx="182880" cy="36576"/>
          </a:xfrm>
          <a:prstGeom prst="rect">
            <a:avLst/>
          </a:prstGeom>
          <a:solidFill>
            <a:srgbClr val="1DB85A"/>
          </a:solidFill>
          <a:ln/>
        </p:spPr>
      </p:sp>
      <p:sp>
        <p:nvSpPr>
          <p:cNvPr id="19" name="Text 17"/>
          <p:cNvSpPr/>
          <p:nvPr/>
        </p:nvSpPr>
        <p:spPr>
          <a:xfrm>
            <a:off x="6080760" y="249631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DB85A"/>
                </a:solidFill>
              </a:rPr>
              <a:t>▶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126480" y="91440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D1E4D9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63640" y="1051560"/>
            <a:ext cx="640080" cy="640080"/>
          </a:xfrm>
          <a:prstGeom prst="ellipse">
            <a:avLst/>
          </a:prstGeom>
          <a:solidFill>
            <a:srgbClr val="1DB85A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17920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2E22"/>
                </a:solidFill>
              </a:rPr>
              <a:t>성과 및 확장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583680" y="2331720"/>
            <a:ext cx="1737360" cy="18288"/>
          </a:xfrm>
          <a:prstGeom prst="rect">
            <a:avLst/>
          </a:prstGeom>
          <a:solidFill>
            <a:srgbClr val="D1E4D9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24231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smtClean="0">
                <a:solidFill>
                  <a:srgbClr val="64748B"/>
                </a:solidFill>
              </a:rPr>
              <a:t>'</a:t>
            </a:r>
            <a:r>
              <a:rPr lang="ko-KR" altLang="en-US" sz="1300" smtClean="0">
                <a:solidFill>
                  <a:srgbClr val="64748B"/>
                </a:solidFill>
              </a:rPr>
              <a:t>설계</a:t>
            </a:r>
            <a:r>
              <a:rPr lang="en-US" altLang="ko-KR" sz="1300" smtClean="0">
                <a:solidFill>
                  <a:srgbClr val="64748B"/>
                </a:solidFill>
              </a:rPr>
              <a:t>/</a:t>
            </a:r>
            <a:r>
              <a:rPr lang="ko-KR" altLang="en-US" sz="1300" smtClean="0">
                <a:solidFill>
                  <a:srgbClr val="64748B"/>
                </a:solidFill>
              </a:rPr>
              <a:t>구축</a:t>
            </a:r>
            <a:r>
              <a:rPr lang="en-US" sz="1300" smtClean="0">
                <a:solidFill>
                  <a:srgbClr val="64748B"/>
                </a:solidFill>
              </a:rPr>
              <a:t> </a:t>
            </a:r>
            <a:r>
              <a:rPr lang="en-US" sz="1300" dirty="0">
                <a:solidFill>
                  <a:srgbClr val="64748B"/>
                </a:solidFill>
              </a:rPr>
              <a:t>10일</a:t>
            </a:r>
            <a:r>
              <a:rPr lang="en-US" sz="1300">
                <a:solidFill>
                  <a:srgbClr val="64748B"/>
                </a:solidFill>
              </a:rPr>
              <a:t>, </a:t>
            </a:r>
            <a:r>
              <a:rPr lang="en-US" sz="1300" smtClean="0">
                <a:solidFill>
                  <a:srgbClr val="64748B"/>
                </a:solidFill>
              </a:rPr>
              <a:t/>
            </a:r>
            <a:br>
              <a:rPr lang="en-US" sz="1300" smtClean="0">
                <a:solidFill>
                  <a:srgbClr val="64748B"/>
                </a:solidFill>
              </a:rPr>
            </a:br>
            <a:r>
              <a:rPr lang="en-US" sz="1300" smtClean="0">
                <a:solidFill>
                  <a:srgbClr val="64748B"/>
                </a:solidFill>
              </a:rPr>
              <a:t>제작 </a:t>
            </a:r>
            <a:r>
              <a:rPr lang="en-US" sz="1300" dirty="0">
                <a:solidFill>
                  <a:srgbClr val="64748B"/>
                </a:solidFill>
              </a:rPr>
              <a:t>1일'의 혁신과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광고 플랫폼으로의 진화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457200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E8F8EF"/>
          </a:solidFill>
          <a:ln w="6350">
            <a:solidFill>
              <a:srgbClr val="1DB8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8A3F"/>
                </a:solidFill>
              </a:rPr>
              <a:t>목표: 디자이너 없이도 운영 담당자가 즉시 수정·배포할 수 있는 자기완결형 콘텐츠 시스템 구축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E22"/>
                </a:solidFill>
              </a:rPr>
              <a:t>기존 방식의 구조적 한계: 단순 반복의 늪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D1E4D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3931920" cy="3931920"/>
          </a:xfrm>
          <a:prstGeom prst="roundRect">
            <a:avLst>
              <a:gd name="adj" fmla="val 2791"/>
            </a:avLst>
          </a:prstGeom>
          <a:solidFill>
            <a:srgbClr val="F8FAFA"/>
          </a:solidFill>
          <a:ln w="6350">
            <a:solidFill>
              <a:srgbClr val="D1E4D9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188720"/>
            <a:ext cx="3017520" cy="1645920"/>
          </a:xfrm>
          <a:prstGeom prst="roundRect">
            <a:avLst>
              <a:gd name="adj" fmla="val 6667"/>
            </a:avLst>
          </a:prstGeom>
          <a:solidFill>
            <a:srgbClr val="1E2A2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8872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182컷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14400" y="2926080"/>
            <a:ext cx="3017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D1E4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971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22"/>
                </a:solidFill>
              </a:rPr>
              <a:t>압도적인 물리적 작업량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전체 182개 (주간 26개 × 7컷)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디자이너 순수 제작: 9~11일 (1인 하루 20컷 한계)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65960" y="3840480"/>
            <a:ext cx="914400" cy="365760"/>
          </a:xfrm>
          <a:prstGeom prst="ellipse">
            <a:avLst/>
          </a:prstGeom>
          <a:solidFill>
            <a:srgbClr val="F1F5F2"/>
          </a:solidFill>
          <a:ln w="6350">
            <a:solidFill>
              <a:srgbClr val="D1E4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3840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A47"/>
                </a:solidFill>
              </a:rPr>
              <a:t>📅 10일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914400"/>
            <a:ext cx="4114800" cy="3931920"/>
          </a:xfrm>
          <a:prstGeom prst="roundRect">
            <a:avLst>
              <a:gd name="adj" fmla="val 2791"/>
            </a:avLst>
          </a:prstGeom>
          <a:solidFill>
            <a:srgbClr val="FFF8F8"/>
          </a:solidFill>
          <a:ln w="6350">
            <a:solidFill>
              <a:srgbClr val="D1E4D9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22"/>
                </a:solidFill>
              </a:rPr>
              <a:t>비효율적 피드백 루프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46320" y="1600200"/>
            <a:ext cx="3566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D1E4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60020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94960" y="16002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22"/>
                </a:solidFill>
              </a:rPr>
              <a:t>텍스트 수정 요청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22860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46320" y="2468880"/>
            <a:ext cx="3566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D1E4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46888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⏳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94960" y="24688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22"/>
                </a:solidFill>
              </a:rPr>
              <a:t>디자이너 대기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3154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</a:rPr>
              <a:t>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46320" y="3337560"/>
            <a:ext cx="3566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D1E4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33756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94960" y="33375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22"/>
                </a:solidFill>
              </a:rPr>
              <a:t>반복 수작업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57200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1E2A23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담당자가 직접 수정하고, 기계가 단순 노동을 대체하는 자생적 시스템이 필요했습니다.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E22"/>
                </a:solidFill>
              </a:rPr>
              <a:t>기획서 → 완성 이미지 자동 생성: 5단계 자동화 파이프라인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D1E4D9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868680"/>
            <a:ext cx="1600200" cy="384048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D1E4D9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005840"/>
            <a:ext cx="621792" cy="621792"/>
          </a:xfrm>
          <a:prstGeom prst="ellipse">
            <a:avLst/>
          </a:prstGeom>
          <a:solidFill>
            <a:srgbClr val="1E2A23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0058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7190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22"/>
                </a:solidFill>
              </a:rPr>
              <a:t>엑셀 기획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21408"/>
            <a:ext cx="1051560" cy="274320"/>
          </a:xfrm>
          <a:prstGeom prst="roundRect">
            <a:avLst>
              <a:gd name="adj" fmla="val 26667"/>
            </a:avLst>
          </a:prstGeom>
          <a:solidFill>
            <a:srgbClr val="E8F8EF"/>
          </a:solidFill>
          <a:ln w="6350">
            <a:solidFill>
              <a:srgbClr val="1DB8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2140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8A3F"/>
                </a:solidFill>
              </a:rPr>
              <a:t>운영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4871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0040" y="30632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주제·표지 제목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섹션 텍스트 정의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74520" y="2468880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B85A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993392" y="868680"/>
            <a:ext cx="1600200" cy="3840480"/>
          </a:xfrm>
          <a:prstGeom prst="roundRect">
            <a:avLst>
              <a:gd name="adj" fmla="val 6857"/>
            </a:avLst>
          </a:prstGeom>
          <a:solidFill>
            <a:srgbClr val="E8F8EF"/>
          </a:solidFill>
          <a:ln w="6350">
            <a:solidFill>
              <a:srgbClr val="D1E4D9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993392" y="868680"/>
            <a:ext cx="1600200" cy="3840480"/>
          </a:xfrm>
          <a:prstGeom prst="roundRect">
            <a:avLst>
              <a:gd name="adj" fmla="val 6857"/>
            </a:avLst>
          </a:prstGeom>
          <a:solidFill>
            <a:srgbClr val="E8F8EF"/>
          </a:solidFill>
          <a:ln w="19050">
            <a:solidFill>
              <a:srgbClr val="1DB85A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8880" y="1005840"/>
            <a:ext cx="621792" cy="621792"/>
          </a:xfrm>
          <a:prstGeom prst="ellipse">
            <a:avLst/>
          </a:prstGeom>
          <a:solidFill>
            <a:srgbClr val="1DB85A"/>
          </a:solidFill>
          <a:ln/>
        </p:spPr>
      </p:sp>
      <p:sp>
        <p:nvSpPr>
          <p:cNvPr id="16" name="Text 14"/>
          <p:cNvSpPr/>
          <p:nvPr/>
        </p:nvSpPr>
        <p:spPr>
          <a:xfrm>
            <a:off x="2468880" y="10058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039112" y="17190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22"/>
                </a:solidFill>
              </a:rPr>
              <a:t>자동 생성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267712" y="2121408"/>
            <a:ext cx="1051560" cy="274320"/>
          </a:xfrm>
          <a:prstGeom prst="roundRect">
            <a:avLst>
              <a:gd name="adj" fmla="val 26667"/>
            </a:avLst>
          </a:prstGeom>
          <a:solidFill>
            <a:srgbClr val="E8F8EF"/>
          </a:solidFill>
          <a:ln w="6350">
            <a:solidFill>
              <a:srgbClr val="1DB8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67712" y="212140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8A3F"/>
                </a:solidFill>
              </a:rPr>
              <a:t>AI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39112" y="24871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2039112" y="30632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pipeline.py 실행으로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완성본까지 변환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593592" y="2468880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B85A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712464" y="868680"/>
            <a:ext cx="1600200" cy="384048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D1E4D9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87952" y="1005840"/>
            <a:ext cx="621792" cy="621792"/>
          </a:xfrm>
          <a:prstGeom prst="ellipse">
            <a:avLst/>
          </a:prstGeom>
          <a:solidFill>
            <a:srgbClr val="1E2A23"/>
          </a:solidFill>
          <a:ln/>
        </p:spPr>
      </p:sp>
      <p:sp>
        <p:nvSpPr>
          <p:cNvPr id="25" name="Text 23"/>
          <p:cNvSpPr/>
          <p:nvPr/>
        </p:nvSpPr>
        <p:spPr>
          <a:xfrm>
            <a:off x="4187952" y="10058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758184" y="17190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22"/>
                </a:solidFill>
              </a:rPr>
              <a:t>검수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986784" y="2121408"/>
            <a:ext cx="1051560" cy="274320"/>
          </a:xfrm>
          <a:prstGeom prst="roundRect">
            <a:avLst>
              <a:gd name="adj" fmla="val 26667"/>
            </a:avLst>
          </a:prstGeom>
          <a:solidFill>
            <a:srgbClr val="E8F8EF"/>
          </a:solidFill>
          <a:ln w="6350">
            <a:solidFill>
              <a:srgbClr val="1DB8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86784" y="212140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8A3F"/>
                </a:solidFill>
              </a:rPr>
              <a:t>디자이너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758184" y="24871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3758184" y="30632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이미지 품질 및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스타일 확인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312664" y="2468880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B85A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31536" y="868680"/>
            <a:ext cx="1600200" cy="384048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D1E4D9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907024" y="1005840"/>
            <a:ext cx="621792" cy="621792"/>
          </a:xfrm>
          <a:prstGeom prst="ellipse">
            <a:avLst/>
          </a:prstGeom>
          <a:solidFill>
            <a:srgbClr val="1E2A23"/>
          </a:solidFill>
          <a:ln/>
        </p:spPr>
      </p:sp>
      <p:sp>
        <p:nvSpPr>
          <p:cNvPr id="34" name="Text 32"/>
          <p:cNvSpPr/>
          <p:nvPr/>
        </p:nvSpPr>
        <p:spPr>
          <a:xfrm>
            <a:off x="5907024" y="10058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77256" y="17190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22"/>
                </a:solidFill>
              </a:rPr>
              <a:t>편집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705856" y="2121408"/>
            <a:ext cx="1051560" cy="274320"/>
          </a:xfrm>
          <a:prstGeom prst="roundRect">
            <a:avLst>
              <a:gd name="adj" fmla="val 26667"/>
            </a:avLst>
          </a:prstGeom>
          <a:solidFill>
            <a:srgbClr val="E8F8EF"/>
          </a:solidFill>
          <a:ln w="6350">
            <a:solidFill>
              <a:srgbClr val="1DB8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05856" y="212140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8A3F"/>
                </a:solidFill>
              </a:rPr>
              <a:t>운영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77256" y="24871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✏️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5477256" y="30632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웹 편집기 활용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텍스트·이미지 수정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031736" y="2468880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B85A"/>
                </a:solidFill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150608" y="868680"/>
            <a:ext cx="1600200" cy="384048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D1E4D9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626096" y="1005840"/>
            <a:ext cx="621792" cy="621792"/>
          </a:xfrm>
          <a:prstGeom prst="ellipse">
            <a:avLst/>
          </a:prstGeom>
          <a:solidFill>
            <a:srgbClr val="1E2A23"/>
          </a:solidFill>
          <a:ln/>
        </p:spPr>
      </p:sp>
      <p:sp>
        <p:nvSpPr>
          <p:cNvPr id="43" name="Text 41"/>
          <p:cNvSpPr/>
          <p:nvPr/>
        </p:nvSpPr>
        <p:spPr>
          <a:xfrm>
            <a:off x="7626096" y="10058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196328" y="17190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22"/>
                </a:solidFill>
              </a:rPr>
              <a:t>서비스 적용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424928" y="2121408"/>
            <a:ext cx="1051560" cy="274320"/>
          </a:xfrm>
          <a:prstGeom prst="roundRect">
            <a:avLst>
              <a:gd name="adj" fmla="val 26667"/>
            </a:avLst>
          </a:prstGeom>
          <a:solidFill>
            <a:srgbClr val="E8F8EF"/>
          </a:solidFill>
          <a:ln w="6350">
            <a:solidFill>
              <a:srgbClr val="1DB85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24928" y="212140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8A3F"/>
                </a:solidFill>
              </a:rPr>
              <a:t>자동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196328" y="24871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48" name="Text 46"/>
          <p:cNvSpPr/>
          <p:nvPr/>
        </p:nvSpPr>
        <p:spPr>
          <a:xfrm>
            <a:off x="7196328" y="30632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CMS 등록 → URL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→ 카카오 알림톡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74320" y="4617720"/>
            <a:ext cx="8595360" cy="365760"/>
          </a:xfrm>
          <a:prstGeom prst="roundRect">
            <a:avLst>
              <a:gd name="adj" fmla="val 20000"/>
            </a:avLst>
          </a:prstGeom>
          <a:solidFill>
            <a:srgbClr val="E8F8EF"/>
          </a:solidFill>
          <a:ln w="6350">
            <a:solidFill>
              <a:srgbClr val="1DB85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8A3F"/>
                </a:solidFill>
              </a:rPr>
              <a:t>핵심: 운영 담당자가 직접 엑셀만 작성하면 AI가 완성본까지 자동 생성 — 디자이너 의존도 Zero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E22"/>
                </a:solidFill>
              </a:rPr>
              <a:t>파이프라인 엔진 구조: 자동화를 관장하는 스크립트 생태계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D1E4D9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0"/>
            <a:ext cx="1371600" cy="1371600"/>
          </a:xfrm>
          <a:prstGeom prst="ellipse">
            <a:avLst/>
          </a:prstGeom>
          <a:solidFill>
            <a:srgbClr val="1DB85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71907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⚙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235915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pipeline.py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Core Engine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737360" y="2313432"/>
            <a:ext cx="457200" cy="36576"/>
          </a:xfrm>
          <a:prstGeom prst="rect">
            <a:avLst/>
          </a:prstGeom>
          <a:solidFill>
            <a:srgbClr val="1DB85A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0" y="914400"/>
            <a:ext cx="6492240" cy="658368"/>
          </a:xfrm>
          <a:prstGeom prst="roundRect">
            <a:avLst>
              <a:gd name="adj" fmla="val 16667"/>
            </a:avLst>
          </a:prstGeom>
          <a:solidFill>
            <a:srgbClr val="E8F8EF"/>
          </a:solidFill>
          <a:ln w="6350">
            <a:solidFill>
              <a:srgbClr val="D1E4D9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194560" y="914400"/>
            <a:ext cx="6492240" cy="658368"/>
          </a:xfrm>
          <a:prstGeom prst="roundRect">
            <a:avLst>
              <a:gd name="adj" fmla="val 13889"/>
            </a:avLst>
          </a:prstGeom>
          <a:solidFill>
            <a:srgbClr val="E8F8EF"/>
          </a:solidFill>
          <a:ln w="12700">
            <a:solidFill>
              <a:srgbClr val="1DB85A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31720" y="10241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generate_images.py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92040" y="1097280"/>
            <a:ext cx="18288" cy="292608"/>
          </a:xfrm>
          <a:prstGeom prst="rect">
            <a:avLst/>
          </a:prstGeom>
          <a:solidFill>
            <a:srgbClr val="D1E4D9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02412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A47"/>
                </a:solidFill>
              </a:rPr>
              <a:t>기획서 데이터 자동 파싱 및 표지 생성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94560" y="1709928"/>
            <a:ext cx="64922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1E4D9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331720" y="181965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generate_card_images.py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92040" y="1892808"/>
            <a:ext cx="18288" cy="292608"/>
          </a:xfrm>
          <a:prstGeom prst="rect">
            <a:avLst/>
          </a:prstGeom>
          <a:solidFill>
            <a:srgbClr val="D1E4D9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819656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A47"/>
                </a:solidFill>
              </a:rPr>
              <a:t>섹션별 맞춤 이미지 생성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94560" y="2505456"/>
            <a:ext cx="64922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1E4D9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331720" y="261518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inject_images.py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92040" y="2688336"/>
            <a:ext cx="18288" cy="292608"/>
          </a:xfrm>
          <a:prstGeom prst="rect">
            <a:avLst/>
          </a:prstGeom>
          <a:solidFill>
            <a:srgbClr val="D1E4D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2615184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A47"/>
                </a:solidFill>
              </a:rPr>
              <a:t>HTML 템플릿 내 이미지 자동 주입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194560" y="3300984"/>
            <a:ext cx="64922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1E4D9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331720" y="34107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validate_cards.py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92040" y="3483864"/>
            <a:ext cx="18288" cy="292608"/>
          </a:xfrm>
          <a:prstGeom prst="rect">
            <a:avLst/>
          </a:prstGeom>
          <a:solidFill>
            <a:srgbClr val="D1E4D9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341071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A47"/>
                </a:solidFill>
              </a:rPr>
              <a:t>결과물 정합성 검수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194560" y="4096512"/>
            <a:ext cx="64922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1E4D9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331720" y="4206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convert_to_webp.py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92040" y="4279392"/>
            <a:ext cx="18288" cy="292608"/>
          </a:xfrm>
          <a:prstGeom prst="rect">
            <a:avLst/>
          </a:prstGeom>
          <a:solidFill>
            <a:srgbClr val="D1E4D9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42062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A47"/>
                </a:solidFill>
              </a:rPr>
              <a:t>서비스 최적화 WebP 변환 (용량 96% 압축 달성)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617720"/>
            <a:ext cx="8412480" cy="365760"/>
          </a:xfrm>
          <a:prstGeom prst="roundRect">
            <a:avLst>
              <a:gd name="adj" fmla="val 20000"/>
            </a:avLst>
          </a:prstGeom>
          <a:solidFill>
            <a:srgbClr val="1E2A23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 Highlight: 모바일 환경에 최적화된 고해상도 3배수 JPG 내보내기 자체 구현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E22"/>
                </a:solidFill>
              </a:rPr>
              <a:t>비용과 품질의 최적점 탐색: AI 모델 하이브리드 전략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D1E4D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374904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1E4D9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5156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E8F8EF"/>
          </a:solidFill>
          <a:ln w="6350">
            <a:solidFill>
              <a:srgbClr val="1DB8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51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8A3F"/>
                </a:solidFill>
              </a:rPr>
              <a:t>GPT-image-1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22"/>
                </a:solidFill>
              </a:rPr>
              <a:t>표지 담당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1828800"/>
            <a:ext cx="1920240" cy="822960"/>
          </a:xfrm>
          <a:prstGeom prst="ellipse">
            <a:avLst/>
          </a:prstGeom>
          <a:solidFill>
            <a:srgbClr val="1E2A23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8288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B85A"/>
                </a:solidFill>
              </a:rPr>
              <a:t>~158원/장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5A47"/>
                </a:solidFill>
              </a:rPr>
              <a:t>이유: </a:t>
            </a:r>
            <a:r>
              <a:rPr lang="en-US" sz="1250" dirty="0">
                <a:solidFill>
                  <a:srgbClr val="3D5A47"/>
                </a:solidFill>
              </a:rPr>
              <a:t>한글 텍스트 직접 삽입 정확도 최고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D5A47"/>
                </a:solidFill>
              </a:rPr>
              <a:t>(Gemini는 한글 오탈자·깨짐 빈번)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80560" y="914400"/>
            <a:ext cx="374904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1E4D9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914400"/>
            <a:ext cx="374904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1E4D9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5156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EEF4FF"/>
          </a:solidFill>
          <a:ln w="6350">
            <a:solidFill>
              <a:srgbClr val="4B6E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051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4BB8"/>
                </a:solidFill>
              </a:rPr>
              <a:t>Gemini 2.5 Flash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80560" y="1417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22"/>
                </a:solidFill>
              </a:rPr>
              <a:t>섹션 담당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40680" y="1828800"/>
            <a:ext cx="1920240" cy="822960"/>
          </a:xfrm>
          <a:prstGeom prst="ellipse">
            <a:avLst/>
          </a:prstGeom>
          <a:solidFill>
            <a:srgbClr val="1E2A23"/>
          </a:solidFill>
          <a:ln/>
        </p:spPr>
      </p:sp>
      <p:sp>
        <p:nvSpPr>
          <p:cNvPr id="17" name="Text 15"/>
          <p:cNvSpPr/>
          <p:nvPr/>
        </p:nvSpPr>
        <p:spPr>
          <a:xfrm>
            <a:off x="5440680" y="18288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B85A"/>
                </a:solidFill>
              </a:rPr>
              <a:t>~82원/장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0" y="278892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5A47"/>
                </a:solidFill>
              </a:rPr>
              <a:t>이유: </a:t>
            </a:r>
            <a:r>
              <a:rPr lang="en-US" sz="1250" dirty="0">
                <a:solidFill>
                  <a:srgbClr val="3D5A47"/>
                </a:solidFill>
              </a:rPr>
              <a:t>맥락에 맞는 삽화 생성 속도 및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D5A47"/>
                </a:solidFill>
              </a:rPr>
              <a:t>압도적 가성비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457200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1DB85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Synthesis Insight: 혼합 장당 35원 수준으로 최종 비용 최적화 달성 (26개 전체 제작에 단 ₩24,000~30,000 소요)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E22"/>
                </a:solidFill>
              </a:rPr>
              <a:t>운영자 주도형 웹 편집기: 제로 마찰(Zero-Friction) 워크플로우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D1E4D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43891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6350">
            <a:solidFill>
              <a:srgbClr val="D1E4D9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161288"/>
            <a:ext cx="548640" cy="548640"/>
          </a:xfrm>
          <a:prstGeom prst="ellipse">
            <a:avLst/>
          </a:prstGeom>
          <a:solidFill>
            <a:srgbClr val="1DB85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61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0515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22"/>
                </a:solidFill>
              </a:rPr>
              <a:t>설치 제로(O)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39903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브라우저에서 즉시 실행되는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단일 HTML 구조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43891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6350">
            <a:solidFill>
              <a:srgbClr val="D1E4D9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350008"/>
            <a:ext cx="548640" cy="548640"/>
          </a:xfrm>
          <a:prstGeom prst="ellipse">
            <a:avLst/>
          </a:prstGeom>
          <a:solidFill>
            <a:srgbClr val="1DB85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350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240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22"/>
                </a:solidFill>
              </a:rPr>
              <a:t>실시간 렌더링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58775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카드 번호 선택 후 텍스트 수정 시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실시간 뷰어 반영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43891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6350">
            <a:solidFill>
              <a:srgbClr val="D1E4D9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3538728"/>
            <a:ext cx="548640" cy="548640"/>
          </a:xfrm>
          <a:prstGeom prst="ellipse">
            <a:avLst/>
          </a:prstGeom>
          <a:solidFill>
            <a:srgbClr val="1DB85A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538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34290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22"/>
                </a:solidFill>
              </a:rPr>
              <a:t>직관적 수정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77647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디자이너의 개입 없이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드래그 앤 드롭으로 이미지 즉시 교체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0" y="914400"/>
            <a:ext cx="3657600" cy="3931920"/>
          </a:xfrm>
          <a:prstGeom prst="roundRect">
            <a:avLst>
              <a:gd name="adj" fmla="val 3000"/>
            </a:avLst>
          </a:prstGeom>
          <a:solidFill>
            <a:srgbClr val="F8FAFA"/>
          </a:solidFill>
          <a:ln w="6350">
            <a:solidFill>
              <a:srgbClr val="D1E4D9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12064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22"/>
                </a:solidFill>
              </a:rPr>
              <a:t>GC Care 웹 편집기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20640" y="1371600"/>
            <a:ext cx="3474720" cy="18288"/>
          </a:xfrm>
          <a:prstGeom prst="rect">
            <a:avLst/>
          </a:prstGeom>
          <a:solidFill>
            <a:srgbClr val="D1E4D9"/>
          </a:solidFill>
          <a:ln/>
        </p:spPr>
      </p:sp>
      <p:sp>
        <p:nvSpPr>
          <p:cNvPr id="22" name="Shape 20"/>
          <p:cNvSpPr/>
          <p:nvPr/>
        </p:nvSpPr>
        <p:spPr>
          <a:xfrm>
            <a:off x="5212080" y="1463040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1E4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1463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47"/>
                </a:solidFill>
              </a:rPr>
              <a:t>📋 카드 선택: 간 건강 01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212080" y="2057400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1E4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2057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47"/>
                </a:solidFill>
              </a:rPr>
              <a:t>📝 제목 텍스트 편집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12080" y="2651760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1E4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47"/>
                </a:solidFill>
              </a:rPr>
              <a:t>🖼️ 섹션 이미지 교체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212080" y="3246120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1E4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0" y="3246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47"/>
                </a:solidFill>
              </a:rPr>
              <a:t>👁️ 실시간 미리보기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212080" y="3840480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1E4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0" y="3840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47"/>
                </a:solidFill>
              </a:rPr>
              <a:t>💾 HTML 저장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57200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1E2A23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Takeaway: 운영 담당자가 '의뢰인'에서 '독립적 에디터'로 진화하는 기술적 기반 완성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E22"/>
                </a:solidFill>
              </a:rPr>
              <a:t>10:1 패러다임 시프트: 압도적 속도와 비용 절감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D1E4D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BD5E1"/>
                </a:solidFill>
              </a:rPr>
              <a:t>10일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160520" y="1005840"/>
            <a:ext cx="36576" cy="1280160"/>
          </a:xfrm>
          <a:prstGeom prst="rect">
            <a:avLst/>
          </a:prstGeom>
          <a:solidFill>
            <a:srgbClr val="D1E4D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0" y="9144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DB85A"/>
                </a:solidFill>
              </a:rPr>
              <a:t>1일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기존 방식 (반복 발생)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2423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8A3F"/>
                </a:solidFill>
              </a:rPr>
              <a:t>AI 파이프라인 (시스템 재사용)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기존 방식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0" y="2971800"/>
            <a:ext cx="6766560" cy="228600"/>
          </a:xfrm>
          <a:prstGeom prst="roundRect">
            <a:avLst>
              <a:gd name="adj" fmla="val 16000"/>
            </a:avLst>
          </a:prstGeom>
          <a:solidFill>
            <a:srgbClr val="CBD5E1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0" y="29443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10일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A47"/>
                </a:solidFill>
              </a:rPr>
              <a:t>자동화 파이프라인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0" y="3429000"/>
            <a:ext cx="676656" cy="228600"/>
          </a:xfrm>
          <a:prstGeom prst="roundRect">
            <a:avLst>
              <a:gd name="adj" fmla="val 16000"/>
            </a:avLst>
          </a:prstGeom>
          <a:solidFill>
            <a:srgbClr val="1DB85A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34015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8A3F"/>
                </a:solidFill>
              </a:rPr>
              <a:t>1일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1965960" cy="1097280"/>
          </a:xfrm>
          <a:prstGeom prst="roundRect">
            <a:avLst>
              <a:gd name="adj" fmla="val 10000"/>
            </a:avLst>
          </a:prstGeom>
          <a:solidFill>
            <a:srgbClr val="F1F5F2"/>
          </a:solidFill>
          <a:ln w="6350">
            <a:solidFill>
              <a:srgbClr val="D1E4D9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9319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B85A"/>
                </a:solidFill>
              </a:rPr>
              <a:t>10일 → 1일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" y="4434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제작 리드타임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06040" y="3840480"/>
            <a:ext cx="1965960" cy="1097280"/>
          </a:xfrm>
          <a:prstGeom prst="roundRect">
            <a:avLst>
              <a:gd name="adj" fmla="val 10000"/>
            </a:avLst>
          </a:prstGeom>
          <a:solidFill>
            <a:srgbClr val="F1F5F2"/>
          </a:solidFill>
          <a:ln w="6350">
            <a:solidFill>
              <a:srgbClr val="D1E4D9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606040" y="39319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B85A"/>
                </a:solidFill>
              </a:rPr>
              <a:t>₩30,000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606040" y="4434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182컷 API 비용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840480"/>
            <a:ext cx="1965960" cy="1097280"/>
          </a:xfrm>
          <a:prstGeom prst="roundRect">
            <a:avLst>
              <a:gd name="adj" fmla="val 10000"/>
            </a:avLst>
          </a:prstGeom>
          <a:solidFill>
            <a:srgbClr val="F1F5F2"/>
          </a:solidFill>
          <a:ln w="6350">
            <a:solidFill>
              <a:srgbClr val="D1E4D9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9319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B85A"/>
                </a:solidFill>
              </a:rPr>
              <a:t>96%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754880" y="4434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WebP 용량 압축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03720" y="3840480"/>
            <a:ext cx="1965960" cy="1097280"/>
          </a:xfrm>
          <a:prstGeom prst="roundRect">
            <a:avLst>
              <a:gd name="adj" fmla="val 10000"/>
            </a:avLst>
          </a:prstGeom>
          <a:solidFill>
            <a:srgbClr val="F1F5F2"/>
          </a:solidFill>
          <a:ln w="6350">
            <a:solidFill>
              <a:srgbClr val="D1E4D9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03720" y="39319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B85A"/>
                </a:solidFill>
              </a:rPr>
              <a:t>∞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03720" y="4434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파이프라인 재사용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E22"/>
                </a:solidFill>
              </a:rPr>
              <a:t>팀 역할의 진화: 제작자에서 '설계자'로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D1E4D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1188720" cy="1554480"/>
          </a:xfrm>
          <a:prstGeom prst="roundRect">
            <a:avLst>
              <a:gd name="adj" fmla="val 7692"/>
            </a:avLst>
          </a:prstGeom>
          <a:solidFill>
            <a:srgbClr val="1E2A2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Designer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960120"/>
            <a:ext cx="3017520" cy="1554480"/>
          </a:xfrm>
          <a:prstGeom prst="roundRect">
            <a:avLst>
              <a:gd name="adj" fmla="val 7059"/>
            </a:avLst>
          </a:prstGeom>
          <a:solidFill>
            <a:srgbClr val="FFF8F8"/>
          </a:solidFill>
          <a:ln w="6350">
            <a:solidFill>
              <a:srgbClr val="D1E4D9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20240" y="1051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Before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13716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5A47"/>
                </a:solidFill>
              </a:rPr>
              <a:t>단순 그래픽 양산 및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D5A47"/>
                </a:solidFill>
              </a:rPr>
              <a:t>텍스트 오탈자 반복 수정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8920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DB85A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394960" y="960120"/>
            <a:ext cx="3291840" cy="1554480"/>
          </a:xfrm>
          <a:prstGeom prst="roundRect">
            <a:avLst>
              <a:gd name="adj" fmla="val 7059"/>
            </a:avLst>
          </a:prstGeom>
          <a:solidFill>
            <a:srgbClr val="E8F8EF"/>
          </a:solidFill>
          <a:ln w="6350">
            <a:solidFill>
              <a:srgbClr val="D1E4D9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394960" y="96012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E8F8EF"/>
          </a:solidFill>
          <a:ln w="12700">
            <a:solidFill>
              <a:srgbClr val="1DB85A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0" y="1051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8A3F"/>
                </a:solidFill>
              </a:rPr>
              <a:t>After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0" y="13716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5A47"/>
                </a:solidFill>
              </a:rPr>
              <a:t>프롬프트 엔지니어링,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D5A47"/>
                </a:solidFill>
              </a:rPr>
              <a:t>전체 시스템 기획,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D5A47"/>
                </a:solidFill>
              </a:rPr>
              <a:t>최종 품질 검수(QA)에 집중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1188720" cy="1554480"/>
          </a:xfrm>
          <a:prstGeom prst="roundRect">
            <a:avLst>
              <a:gd name="adj" fmla="val 7692"/>
            </a:avLst>
          </a:prstGeom>
          <a:solidFill>
            <a:srgbClr val="1E2A2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8803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7200" y="37033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Operator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828800" y="2880360"/>
            <a:ext cx="3017520" cy="1554480"/>
          </a:xfrm>
          <a:prstGeom prst="roundRect">
            <a:avLst>
              <a:gd name="adj" fmla="val 7059"/>
            </a:avLst>
          </a:prstGeom>
          <a:solidFill>
            <a:srgbClr val="FFF8F8"/>
          </a:solidFill>
          <a:ln w="6350">
            <a:solidFill>
              <a:srgbClr val="D1E4D9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20240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Before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20240" y="32918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5A47"/>
                </a:solidFill>
              </a:rPr>
              <a:t>디자이너 일정에 전적으로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D5A47"/>
                </a:solidFill>
              </a:rPr>
              <a:t>의존하는 수동적 의뢰자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920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DB85A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394960" y="2880360"/>
            <a:ext cx="3291840" cy="1554480"/>
          </a:xfrm>
          <a:prstGeom prst="roundRect">
            <a:avLst>
              <a:gd name="adj" fmla="val 7059"/>
            </a:avLst>
          </a:prstGeom>
          <a:solidFill>
            <a:srgbClr val="E8F8EF"/>
          </a:solidFill>
          <a:ln w="6350">
            <a:solidFill>
              <a:srgbClr val="D1E4D9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94960" y="288036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E8F8EF"/>
          </a:solidFill>
          <a:ln w="12700">
            <a:solidFill>
              <a:srgbClr val="1DB85A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0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8A3F"/>
                </a:solidFill>
              </a:rPr>
              <a:t>After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0" y="32918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5A47"/>
                </a:solidFill>
              </a:rPr>
              <a:t>시스템을 통해 콘텐츠를 직접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D5A47"/>
                </a:solidFill>
              </a:rPr>
              <a:t>생성하고 즉시 수정·배포하는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D5A47"/>
                </a:solidFill>
              </a:rPr>
              <a:t>주도적 생산자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E22"/>
                </a:solidFill>
              </a:rPr>
              <a:t>속도와 맞바꾸지 않은 '어떠케어' 브랜드 퀄리티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D1E4D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6350">
            <a:solidFill>
              <a:srgbClr val="D1E4D9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🏥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22"/>
                </a:solidFill>
              </a:rPr>
              <a:t>직관적 시각화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2212848"/>
            <a:ext cx="1554480" cy="18288"/>
          </a:xfrm>
          <a:prstGeom prst="rect">
            <a:avLst/>
          </a:prstGeom>
          <a:solidFill>
            <a:srgbClr val="1DB85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0428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복잡한 의료·건강 정보의 직관적 시각화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(예: 간 건강, 탄수화물 위험성)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91440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6350">
            <a:solidFill>
              <a:srgbClr val="D1E4D9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0515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🎨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383280" y="1783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22"/>
                </a:solidFill>
              </a:rPr>
              <a:t>브랜드 일관성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40480" y="2212848"/>
            <a:ext cx="1554480" cy="18288"/>
          </a:xfrm>
          <a:prstGeom prst="rect">
            <a:avLst/>
          </a:prstGeom>
          <a:solidFill>
            <a:srgbClr val="1DB85A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230428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어떠케어 브랜드 톤앤매너에 완벽히 부합하는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신뢰감 있고 친근한 디자인 유지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91440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6350">
            <a:solidFill>
              <a:srgbClr val="D1E4D9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0515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📐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217920" y="1783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22"/>
                </a:solidFill>
              </a:rPr>
              <a:t>고해상도 확보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75120" y="2212848"/>
            <a:ext cx="1554480" cy="18288"/>
          </a:xfrm>
          <a:prstGeom prst="rect">
            <a:avLst/>
          </a:prstGeom>
          <a:solidFill>
            <a:srgbClr val="1DB85A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230428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실무 즉시 투입 가능한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고품질 해상도(3배수) 확보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5A47"/>
                </a:solidFill>
              </a:rPr>
              <a:t>실제 제작 결과물 샘플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3977640"/>
            <a:ext cx="2286000" cy="960120"/>
          </a:xfrm>
          <a:prstGeom prst="roundRect">
            <a:avLst>
              <a:gd name="adj" fmla="val 9524"/>
            </a:avLst>
          </a:prstGeom>
          <a:solidFill>
            <a:srgbClr val="4B3F72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9776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간수치가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높다는 신호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74720" y="3977640"/>
            <a:ext cx="2286000" cy="960120"/>
          </a:xfrm>
          <a:prstGeom prst="roundRect">
            <a:avLst>
              <a:gd name="adj" fmla="val 9524"/>
            </a:avLst>
          </a:prstGeom>
          <a:solidFill>
            <a:srgbClr val="0F8A3F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39776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AST·ALT·γ-GTP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쉽게 이해하기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3977640"/>
            <a:ext cx="2286000" cy="960120"/>
          </a:xfrm>
          <a:prstGeom prst="roundRect">
            <a:avLst>
              <a:gd name="adj" fmla="val 9524"/>
            </a:avLst>
          </a:prstGeom>
          <a:solidFill>
            <a:srgbClr val="8B3A0F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0" y="39776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탄수화물이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지방간을 만든다?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E22"/>
                </a:solidFill>
              </a:rPr>
              <a:t>무한한 확장성: 단일 파이프라인, 모든 건강 카테고리로 뻗어가다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D1E4D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D5A47"/>
                </a:solidFill>
              </a:rPr>
              <a:t>템플릿 라이브러리화를 통해 최소 비용으로 신규 주제 원클릭 제작 가능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74720" y="1417320"/>
            <a:ext cx="2194560" cy="685800"/>
          </a:xfrm>
          <a:prstGeom prst="roundRect">
            <a:avLst>
              <a:gd name="adj" fmla="val 13333"/>
            </a:avLst>
          </a:prstGeom>
          <a:solidFill>
            <a:srgbClr val="1E2A23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0" y="14173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🔧 파이프라인 코어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0" y="1618488"/>
            <a:ext cx="640080" cy="27432"/>
          </a:xfrm>
          <a:prstGeom prst="rect">
            <a:avLst/>
          </a:prstGeom>
          <a:solidFill>
            <a:srgbClr val="1DB85A"/>
          </a:solidFill>
          <a:ln/>
        </p:spPr>
      </p:sp>
      <p:sp>
        <p:nvSpPr>
          <p:cNvPr id="8" name="Shape 6"/>
          <p:cNvSpPr/>
          <p:nvPr/>
        </p:nvSpPr>
        <p:spPr>
          <a:xfrm>
            <a:off x="6309360" y="1280160"/>
            <a:ext cx="22860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D1E4D9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55080" y="13258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🩸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903720" y="13258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2"/>
                </a:solidFill>
              </a:rPr>
              <a:t>혈당 관리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03720" y="16459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Blood Sugar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0" y="2670048"/>
            <a:ext cx="640080" cy="27432"/>
          </a:xfrm>
          <a:prstGeom prst="rect">
            <a:avLst/>
          </a:prstGeom>
          <a:solidFill>
            <a:srgbClr val="1DB85A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9360" y="2331720"/>
            <a:ext cx="22860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D1E4D9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55080" y="237744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❤️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903720" y="23774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2"/>
                </a:solidFill>
              </a:rPr>
              <a:t>혈압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03720" y="26974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Blood Pressure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3721608"/>
            <a:ext cx="640080" cy="27432"/>
          </a:xfrm>
          <a:prstGeom prst="rect">
            <a:avLst/>
          </a:prstGeom>
          <a:solidFill>
            <a:srgbClr val="1DB85A"/>
          </a:solidFill>
          <a:ln/>
        </p:spPr>
      </p:sp>
      <p:sp>
        <p:nvSpPr>
          <p:cNvPr id="18" name="Shape 16"/>
          <p:cNvSpPr/>
          <p:nvPr/>
        </p:nvSpPr>
        <p:spPr>
          <a:xfrm>
            <a:off x="6309360" y="3383280"/>
            <a:ext cx="22860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D1E4D9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55080" y="342900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🥗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03720" y="34290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2"/>
                </a:solidFill>
              </a:rPr>
              <a:t>다이어트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03720" y="37490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Diet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0" y="4773168"/>
            <a:ext cx="640080" cy="27432"/>
          </a:xfrm>
          <a:prstGeom prst="rect">
            <a:avLst/>
          </a:prstGeom>
          <a:solidFill>
            <a:srgbClr val="1DB85A"/>
          </a:solidFill>
          <a:ln/>
        </p:spPr>
      </p:sp>
      <p:sp>
        <p:nvSpPr>
          <p:cNvPr id="23" name="Shape 21"/>
          <p:cNvSpPr/>
          <p:nvPr/>
        </p:nvSpPr>
        <p:spPr>
          <a:xfrm>
            <a:off x="6309360" y="4434840"/>
            <a:ext cx="22860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D1E4D9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55080" y="44805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🫘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03720" y="4480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2"/>
                </a:solidFill>
              </a:rPr>
              <a:t>콩팥 건강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03720" y="48006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Kidney Health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50992" y="1627632"/>
            <a:ext cx="27432" cy="3383280"/>
          </a:xfrm>
          <a:prstGeom prst="rect">
            <a:avLst/>
          </a:prstGeom>
          <a:solidFill>
            <a:srgbClr val="1DB85A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4617720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F1F5F2"/>
          </a:solidFill>
          <a:ln w="6350">
            <a:solidFill>
              <a:srgbClr val="D1E4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A47"/>
                </a:solidFill>
              </a:rPr>
              <a:t>주제만 커스터마이징하면 기존 구축된 파이프라인과 로직을 100% 재사용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E22"/>
                </a:solidFill>
              </a:rPr>
              <a:t>넥스트 스텝: 내부 툴을 넘어 '광고 플랫폼'으로의 진화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D1E4D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D5A47"/>
                </a:solidFill>
              </a:rPr>
              <a:t>검진센터 공지 팝업부터 제휴사 광고까지, 운영 영역의 한계를 붕괴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3891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D1E4D9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600200"/>
            <a:ext cx="548640" cy="548640"/>
          </a:xfrm>
          <a:prstGeom prst="ellipse">
            <a:avLst/>
          </a:prstGeom>
          <a:solidFill>
            <a:srgbClr val="1DB85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22"/>
                </a:solidFill>
              </a:rPr>
              <a:t>광고주 직접 참여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82880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광고주가 직접 소재를 업로드하고 카피를 입력·수정할 수 있는 대시보드 구축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43891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D1E4D9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" y="3017520"/>
            <a:ext cx="548640" cy="548640"/>
          </a:xfrm>
          <a:prstGeom prst="ellipse">
            <a:avLst/>
          </a:prstGeom>
          <a:solidFill>
            <a:srgbClr val="1DB85A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880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22"/>
                </a:solidFill>
              </a:rPr>
              <a:t>자동화 배포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324612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시즌 및 캠페인 일정 기반의 콘텐츠 배치 자동화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1234440"/>
            <a:ext cx="3657600" cy="3154680"/>
          </a:xfrm>
          <a:prstGeom prst="roundRect">
            <a:avLst>
              <a:gd name="adj" fmla="val 3478"/>
            </a:avLst>
          </a:prstGeom>
          <a:solidFill>
            <a:srgbClr val="F8FAFA"/>
          </a:solidFill>
          <a:ln w="6350">
            <a:solidFill>
              <a:srgbClr val="D1E4D9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2064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22"/>
                </a:solidFill>
              </a:rPr>
              <a:t>어떠케어 광고 플랫폼 대시보드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20640" y="1691640"/>
            <a:ext cx="3474720" cy="18288"/>
          </a:xfrm>
          <a:prstGeom prst="rect">
            <a:avLst/>
          </a:prstGeom>
          <a:solidFill>
            <a:srgbClr val="D1E4D9"/>
          </a:solidFill>
          <a:ln/>
        </p:spPr>
      </p:sp>
      <p:sp>
        <p:nvSpPr>
          <p:cNvPr id="18" name="Shape 16"/>
          <p:cNvSpPr/>
          <p:nvPr/>
        </p:nvSpPr>
        <p:spPr>
          <a:xfrm>
            <a:off x="5212080" y="1783080"/>
            <a:ext cx="100584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6350">
            <a:solidFill>
              <a:srgbClr val="D1E4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18288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B85A"/>
                </a:solidFill>
              </a:rPr>
              <a:t>3.4%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12080" y="21762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CTR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355080" y="1783080"/>
            <a:ext cx="100584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6350">
            <a:solidFill>
              <a:srgbClr val="D1E4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18288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B85A"/>
                </a:solidFill>
              </a:rPr>
              <a:t>128K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55080" y="21762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노출수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498080" y="1783080"/>
            <a:ext cx="100584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6350">
            <a:solidFill>
              <a:srgbClr val="D1E4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0" y="18288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B85A"/>
                </a:solidFill>
              </a:rPr>
              <a:t>2건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98080" y="21762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진행 광고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212080" y="2606040"/>
            <a:ext cx="32918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1E4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0" y="260604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A47"/>
                </a:solidFill>
              </a:rPr>
              <a:t>📋 소재 관리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212080" y="3017520"/>
            <a:ext cx="32918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1E4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0" y="301752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A47"/>
                </a:solidFill>
              </a:rPr>
              <a:t>✅ 소재 제출하기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212080" y="3429000"/>
            <a:ext cx="32918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1E4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0" y="34290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A47"/>
                </a:solidFill>
              </a:rPr>
              <a:t>📌 광고 검수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212080" y="3840480"/>
            <a:ext cx="32918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1E4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0" y="38404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A47"/>
                </a:solidFill>
              </a:rPr>
              <a:t>📊 데이터 현황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457200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1E2A23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Takeaway: AI 파이프라인 인프라가 새로운 비즈니스 수익 모델(BM)의 핵심 엔진으로 확장됩니다.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A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효율의 극대화, 확장의 무한함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200400" y="1389888"/>
            <a:ext cx="2743200" cy="36576"/>
          </a:xfrm>
          <a:prstGeom prst="rect">
            <a:avLst/>
          </a:prstGeom>
          <a:solidFill>
            <a:srgbClr val="1DB85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91640"/>
            <a:ext cx="2651760" cy="2743200"/>
          </a:xfrm>
          <a:prstGeom prst="roundRect">
            <a:avLst>
              <a:gd name="adj" fmla="val 4828"/>
            </a:avLst>
          </a:prstGeom>
          <a:solidFill>
            <a:srgbClr val="243028"/>
          </a:solidFill>
          <a:ln w="6350">
            <a:solidFill>
              <a:srgbClr val="3A50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⏱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88720" y="2487168"/>
            <a:ext cx="1188720" cy="27432"/>
          </a:xfrm>
          <a:prstGeom prst="rect">
            <a:avLst/>
          </a:prstGeom>
          <a:solidFill>
            <a:srgbClr val="1DB85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5786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B85A"/>
                </a:solidFill>
              </a:rPr>
              <a:t>10일 → 1일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3090672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DB8A8"/>
                </a:solidFill>
              </a:rPr>
              <a:t>제작 리드타임 혁신적 단축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691640"/>
            <a:ext cx="2651760" cy="2743200"/>
          </a:xfrm>
          <a:prstGeom prst="roundRect">
            <a:avLst>
              <a:gd name="adj" fmla="val 4828"/>
            </a:avLst>
          </a:prstGeom>
          <a:solidFill>
            <a:srgbClr val="243028"/>
          </a:solidFill>
          <a:ln w="6350">
            <a:solidFill>
              <a:srgbClr val="3A50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8288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023360" y="2487168"/>
            <a:ext cx="1188720" cy="27432"/>
          </a:xfrm>
          <a:prstGeom prst="rect">
            <a:avLst/>
          </a:prstGeom>
          <a:solidFill>
            <a:srgbClr val="1DB85A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25786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B85A"/>
                </a:solidFill>
              </a:rPr>
              <a:t>Zero-Friction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29000" y="3090672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DB8A8"/>
                </a:solidFill>
              </a:rPr>
              <a:t>부서 간 병목을 제거한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DB8A8"/>
                </a:solidFill>
              </a:rPr>
              <a:t>운영자 주도형 편집 생태계 완성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691640"/>
            <a:ext cx="2651760" cy="2743200"/>
          </a:xfrm>
          <a:prstGeom prst="roundRect">
            <a:avLst>
              <a:gd name="adj" fmla="val 4828"/>
            </a:avLst>
          </a:prstGeom>
          <a:solidFill>
            <a:srgbClr val="243028"/>
          </a:solidFill>
          <a:ln w="6350">
            <a:solidFill>
              <a:srgbClr val="3A5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8288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6858000" y="2487168"/>
            <a:ext cx="1188720" cy="27432"/>
          </a:xfrm>
          <a:prstGeom prst="rect">
            <a:avLst/>
          </a:prstGeom>
          <a:solidFill>
            <a:srgbClr val="1DB85A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25786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B85A"/>
                </a:solidFill>
              </a:rPr>
              <a:t>∞ 확장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3090672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DB8A8"/>
                </a:solidFill>
              </a:rPr>
              <a:t>건강 콘텐츠에서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DB8A8"/>
                </a:solidFill>
              </a:rPr>
              <a:t>통합 광고 플랫폼으로의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DB8A8"/>
                </a:solidFill>
              </a:rPr>
              <a:t>무한한 확장 가능성 증명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46634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8A78"/>
                </a:solidFill>
              </a:rPr>
              <a:t>GC케어 디지털 콘텐츠 제작의 새로운 표준을 제시합니다.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850</Words>
  <Application>Microsoft Office PowerPoint</Application>
  <PresentationFormat>화면 슬라이드 쇼(16:9)</PresentationFormat>
  <Paragraphs>241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맑은 고딕</vt:lpstr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GC Care AI Content Pipeline</dc:title>
  <dc:subject>PptxGenJS Presentation</dc:subject>
  <dc:creator>PptxGenJS</dc:creator>
  <cp:lastModifiedBy>윤성웅</cp:lastModifiedBy>
  <cp:revision>4</cp:revision>
  <dcterms:created xsi:type="dcterms:W3CDTF">2026-06-18T09:01:02Z</dcterms:created>
  <dcterms:modified xsi:type="dcterms:W3CDTF">2026-06-18T12:35:02Z</dcterms:modified>
</cp:coreProperties>
</file>